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6" r:id="rId9"/>
    <p:sldId id="267" r:id="rId10"/>
    <p:sldId id="268" r:id="rId11"/>
    <p:sldId id="263" r:id="rId12"/>
    <p:sldId id="264" r:id="rId13"/>
    <p:sldId id="265"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09" d="100"/>
          <a:sy n="109" d="100"/>
        </p:scale>
        <p:origin x="734" y="3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1032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F9A825"/>
          </a:solidFill>
          <a:ln w="12700">
            <a:solidFill>
              <a:srgbClr val="F9A825"/>
            </a:solidFill>
            <a:prstDash val="solid"/>
          </a:ln>
        </p:spPr>
      </p:sp>
      <p:sp>
        <p:nvSpPr>
          <p:cNvPr id="3" name="Shape 1"/>
          <p:cNvSpPr/>
          <p:nvPr/>
        </p:nvSpPr>
        <p:spPr>
          <a:xfrm>
            <a:off x="5486400" y="-1371600"/>
            <a:ext cx="5029200" cy="5029200"/>
          </a:xfrm>
          <a:prstGeom prst="ellipse">
            <a:avLst/>
          </a:prstGeom>
          <a:solidFill>
            <a:srgbClr val="FFFFFF">
              <a:alpha val="6000"/>
            </a:srgbClr>
          </a:solidFill>
          <a:ln w="12700">
            <a:solidFill>
              <a:srgbClr val="FFFFFF">
                <a:alpha val="8000"/>
              </a:srgbClr>
            </a:solidFill>
            <a:prstDash val="solid"/>
          </a:ln>
        </p:spPr>
      </p:sp>
      <p:sp>
        <p:nvSpPr>
          <p:cNvPr id="4" name="Shape 2"/>
          <p:cNvSpPr/>
          <p:nvPr/>
        </p:nvSpPr>
        <p:spPr>
          <a:xfrm>
            <a:off x="6400800" y="182880"/>
            <a:ext cx="3200400" cy="3200400"/>
          </a:xfrm>
          <a:prstGeom prst="ellipse">
            <a:avLst/>
          </a:prstGeom>
          <a:solidFill>
            <a:srgbClr val="FFFFFF">
              <a:alpha val="10000"/>
            </a:srgbClr>
          </a:solidFill>
          <a:ln w="12700">
            <a:solidFill>
              <a:srgbClr val="FFFFFF">
                <a:alpha val="12000"/>
              </a:srgbClr>
            </a:solidFill>
            <a:prstDash val="solid"/>
          </a:ln>
        </p:spPr>
      </p:sp>
      <p:sp>
        <p:nvSpPr>
          <p:cNvPr id="5" name="Shape 3"/>
          <p:cNvSpPr/>
          <p:nvPr/>
        </p:nvSpPr>
        <p:spPr>
          <a:xfrm>
            <a:off x="502920" y="1005840"/>
            <a:ext cx="1280160" cy="347472"/>
          </a:xfrm>
          <a:prstGeom prst="roundRect">
            <a:avLst>
              <a:gd name="adj" fmla="val 15789"/>
            </a:avLst>
          </a:prstGeom>
          <a:solidFill>
            <a:srgbClr val="42A5F5"/>
          </a:solidFill>
          <a:ln w="12700">
            <a:solidFill>
              <a:srgbClr val="42A5F5"/>
            </a:solidFill>
            <a:prstDash val="solid"/>
          </a:ln>
        </p:spPr>
      </p:sp>
      <p:sp>
        <p:nvSpPr>
          <p:cNvPr id="6" name="Text 4"/>
          <p:cNvSpPr/>
          <p:nvPr/>
        </p:nvSpPr>
        <p:spPr>
          <a:xfrm>
            <a:off x="502920" y="1005840"/>
            <a:ext cx="1280160" cy="347472"/>
          </a:xfrm>
          <a:prstGeom prst="rect">
            <a:avLst/>
          </a:prstGeom>
          <a:noFill/>
          <a:ln/>
        </p:spPr>
        <p:txBody>
          <a:bodyPr wrap="square" rtlCol="0" anchor="ctr"/>
          <a:lstStyle/>
          <a:p>
            <a:pPr marL="0" indent="0" algn="ctr">
              <a:buNone/>
            </a:pPr>
            <a:r>
              <a:rPr lang="en-US" sz="900" b="1" dirty="0">
                <a:solidFill>
                  <a:srgbClr val="0D1B3E"/>
                </a:solidFill>
              </a:rPr>
              <a:t>SQL</a:t>
            </a:r>
            <a:endParaRPr lang="en-US" sz="900" dirty="0"/>
          </a:p>
        </p:txBody>
      </p:sp>
      <p:sp>
        <p:nvSpPr>
          <p:cNvPr id="7" name="Shape 5"/>
          <p:cNvSpPr/>
          <p:nvPr/>
        </p:nvSpPr>
        <p:spPr>
          <a:xfrm>
            <a:off x="2011680" y="1005840"/>
            <a:ext cx="1280160" cy="347472"/>
          </a:xfrm>
          <a:prstGeom prst="roundRect">
            <a:avLst>
              <a:gd name="adj" fmla="val 15789"/>
            </a:avLst>
          </a:prstGeom>
          <a:solidFill>
            <a:srgbClr val="00897B"/>
          </a:solidFill>
          <a:ln w="12700">
            <a:solidFill>
              <a:srgbClr val="00897B"/>
            </a:solidFill>
            <a:prstDash val="solid"/>
          </a:ln>
        </p:spPr>
      </p:sp>
      <p:sp>
        <p:nvSpPr>
          <p:cNvPr id="8" name="Text 6"/>
          <p:cNvSpPr/>
          <p:nvPr/>
        </p:nvSpPr>
        <p:spPr>
          <a:xfrm>
            <a:off x="2011680" y="1005840"/>
            <a:ext cx="1280160" cy="347472"/>
          </a:xfrm>
          <a:prstGeom prst="rect">
            <a:avLst/>
          </a:prstGeom>
          <a:noFill/>
          <a:ln/>
        </p:spPr>
        <p:txBody>
          <a:bodyPr wrap="square" rtlCol="0" anchor="ctr"/>
          <a:lstStyle/>
          <a:p>
            <a:pPr marL="0" indent="0" algn="ctr">
              <a:buNone/>
            </a:pPr>
            <a:r>
              <a:rPr lang="en-US" sz="900" b="1" dirty="0">
                <a:solidFill>
                  <a:srgbClr val="0D1B3E"/>
                </a:solidFill>
              </a:rPr>
              <a:t>EXCEL</a:t>
            </a:r>
            <a:endParaRPr lang="en-US" sz="900" dirty="0"/>
          </a:p>
        </p:txBody>
      </p:sp>
      <p:sp>
        <p:nvSpPr>
          <p:cNvPr id="9" name="Shape 7"/>
          <p:cNvSpPr/>
          <p:nvPr/>
        </p:nvSpPr>
        <p:spPr>
          <a:xfrm>
            <a:off x="3520440" y="1005840"/>
            <a:ext cx="1280160" cy="347472"/>
          </a:xfrm>
          <a:prstGeom prst="roundRect">
            <a:avLst>
              <a:gd name="adj" fmla="val 15789"/>
            </a:avLst>
          </a:prstGeom>
          <a:solidFill>
            <a:srgbClr val="F9A825"/>
          </a:solidFill>
          <a:ln w="12700">
            <a:solidFill>
              <a:srgbClr val="F9A825"/>
            </a:solidFill>
            <a:prstDash val="solid"/>
          </a:ln>
        </p:spPr>
      </p:sp>
      <p:sp>
        <p:nvSpPr>
          <p:cNvPr id="10" name="Text 8"/>
          <p:cNvSpPr/>
          <p:nvPr/>
        </p:nvSpPr>
        <p:spPr>
          <a:xfrm>
            <a:off x="3520440" y="1005840"/>
            <a:ext cx="1280160" cy="347472"/>
          </a:xfrm>
          <a:prstGeom prst="rect">
            <a:avLst/>
          </a:prstGeom>
          <a:noFill/>
          <a:ln/>
        </p:spPr>
        <p:txBody>
          <a:bodyPr wrap="square" rtlCol="0" anchor="ctr"/>
          <a:lstStyle/>
          <a:p>
            <a:pPr marL="0" indent="0" algn="ctr">
              <a:buNone/>
            </a:pPr>
            <a:r>
              <a:rPr lang="en-US" sz="900" b="1" dirty="0">
                <a:solidFill>
                  <a:srgbClr val="0D1B3E"/>
                </a:solidFill>
              </a:rPr>
              <a:t>POWER BI</a:t>
            </a:r>
            <a:endParaRPr lang="en-US" sz="900" dirty="0"/>
          </a:p>
        </p:txBody>
      </p:sp>
      <p:sp>
        <p:nvSpPr>
          <p:cNvPr id="11" name="Shape 9"/>
          <p:cNvSpPr/>
          <p:nvPr/>
        </p:nvSpPr>
        <p:spPr>
          <a:xfrm>
            <a:off x="5029200" y="1005840"/>
            <a:ext cx="1280160" cy="347472"/>
          </a:xfrm>
          <a:prstGeom prst="roundRect">
            <a:avLst>
              <a:gd name="adj" fmla="val 15789"/>
            </a:avLst>
          </a:prstGeom>
          <a:solidFill>
            <a:srgbClr val="00ACC1"/>
          </a:solidFill>
          <a:ln w="12700">
            <a:solidFill>
              <a:srgbClr val="00ACC1"/>
            </a:solidFill>
            <a:prstDash val="solid"/>
          </a:ln>
        </p:spPr>
      </p:sp>
      <p:sp>
        <p:nvSpPr>
          <p:cNvPr id="12" name="Text 10"/>
          <p:cNvSpPr/>
          <p:nvPr/>
        </p:nvSpPr>
        <p:spPr>
          <a:xfrm>
            <a:off x="5029200" y="1005840"/>
            <a:ext cx="1280160" cy="347472"/>
          </a:xfrm>
          <a:prstGeom prst="rect">
            <a:avLst/>
          </a:prstGeom>
          <a:noFill/>
          <a:ln/>
        </p:spPr>
        <p:txBody>
          <a:bodyPr wrap="square" rtlCol="0" anchor="ctr"/>
          <a:lstStyle/>
          <a:p>
            <a:pPr marL="0" indent="0" algn="ctr">
              <a:buNone/>
            </a:pPr>
            <a:r>
              <a:rPr lang="en-US" sz="900" b="1" dirty="0">
                <a:solidFill>
                  <a:srgbClr val="0D1B3E"/>
                </a:solidFill>
              </a:rPr>
              <a:t>TABLEAU</a:t>
            </a:r>
            <a:endParaRPr lang="en-US" sz="900" dirty="0"/>
          </a:p>
        </p:txBody>
      </p:sp>
      <p:sp>
        <p:nvSpPr>
          <p:cNvPr id="13" name="Text 11"/>
          <p:cNvSpPr/>
          <p:nvPr/>
        </p:nvSpPr>
        <p:spPr>
          <a:xfrm>
            <a:off x="457200" y="1572768"/>
            <a:ext cx="8229600" cy="82296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Airline Data Analysis</a:t>
            </a:r>
            <a:endParaRPr lang="en-US" sz="4000" dirty="0"/>
          </a:p>
        </p:txBody>
      </p:sp>
      <p:sp>
        <p:nvSpPr>
          <p:cNvPr id="14" name="Text 12"/>
          <p:cNvSpPr/>
          <p:nvPr/>
        </p:nvSpPr>
        <p:spPr>
          <a:xfrm>
            <a:off x="457200" y="2331720"/>
            <a:ext cx="8229600" cy="731520"/>
          </a:xfrm>
          <a:prstGeom prst="rect">
            <a:avLst/>
          </a:prstGeom>
          <a:noFill/>
          <a:ln/>
        </p:spPr>
        <p:txBody>
          <a:bodyPr wrap="square" rtlCol="0" anchor="ctr"/>
          <a:lstStyle/>
          <a:p>
            <a:pPr marL="0" indent="0">
              <a:buNone/>
            </a:pPr>
            <a:r>
              <a:rPr lang="en-US" sz="4000" b="1" dirty="0">
                <a:solidFill>
                  <a:srgbClr val="42A5F5"/>
                </a:solidFill>
                <a:latin typeface="Calibri" pitchFamily="34" charset="0"/>
                <a:ea typeface="Calibri" pitchFamily="34" charset="-122"/>
                <a:cs typeface="Calibri" pitchFamily="34" charset="-120"/>
              </a:rPr>
              <a:t>Dashboard</a:t>
            </a:r>
            <a:endParaRPr lang="en-US" sz="4000" dirty="0"/>
          </a:p>
        </p:txBody>
      </p:sp>
      <p:sp>
        <p:nvSpPr>
          <p:cNvPr id="15" name="Text 13"/>
          <p:cNvSpPr/>
          <p:nvPr/>
        </p:nvSpPr>
        <p:spPr>
          <a:xfrm>
            <a:off x="457200" y="3182112"/>
            <a:ext cx="7772400" cy="731520"/>
          </a:xfrm>
          <a:prstGeom prst="rect">
            <a:avLst/>
          </a:prstGeom>
          <a:noFill/>
          <a:ln/>
        </p:spPr>
        <p:txBody>
          <a:bodyPr wrap="square" rtlCol="0" anchor="ctr"/>
          <a:lstStyle/>
          <a:p>
            <a:pPr marL="0" indent="0">
              <a:lnSpc>
                <a:spcPct val="130000"/>
              </a:lnSpc>
              <a:buNone/>
            </a:pPr>
            <a:r>
              <a:rPr lang="en-US" sz="1300" dirty="0">
                <a:solidFill>
                  <a:srgbClr val="CBD5E1"/>
                </a:solidFill>
                <a:latin typeface="Calibri" pitchFamily="34" charset="0"/>
                <a:ea typeface="Calibri" pitchFamily="34" charset="-122"/>
                <a:cs typeface="Calibri" pitchFamily="34" charset="-120"/>
              </a:rPr>
              <a:t>A comprehensive performance analysis leveraging SQL, Excel, Power BI, and Tableau</a:t>
            </a:r>
            <a:endParaRPr lang="en-US" sz="1300" dirty="0"/>
          </a:p>
          <a:p>
            <a:pPr marL="0" indent="0">
              <a:lnSpc>
                <a:spcPct val="130000"/>
              </a:lnSpc>
              <a:buNone/>
            </a:pPr>
            <a:r>
              <a:rPr lang="en-US" sz="1300" dirty="0">
                <a:solidFill>
                  <a:srgbClr val="CBD5E1"/>
                </a:solidFill>
                <a:latin typeface="Calibri" pitchFamily="34" charset="0"/>
                <a:ea typeface="Calibri" pitchFamily="34" charset="-122"/>
                <a:cs typeface="Calibri" pitchFamily="34" charset="-120"/>
              </a:rPr>
              <a:t>to uncover actionable insights from airline operations data.</a:t>
            </a:r>
            <a:endParaRPr lang="en-US" sz="1300" dirty="0"/>
          </a:p>
        </p:txBody>
      </p:sp>
      <p:sp>
        <p:nvSpPr>
          <p:cNvPr id="16" name="Shape 14"/>
          <p:cNvSpPr/>
          <p:nvPr/>
        </p:nvSpPr>
        <p:spPr>
          <a:xfrm>
            <a:off x="457200" y="4041648"/>
            <a:ext cx="5029200" cy="22860"/>
          </a:xfrm>
          <a:prstGeom prst="rect">
            <a:avLst/>
          </a:prstGeom>
          <a:solidFill>
            <a:srgbClr val="F9A825"/>
          </a:solidFill>
          <a:ln w="12700">
            <a:solidFill>
              <a:srgbClr val="F9A825"/>
            </a:solidFill>
            <a:prstDash val="solid"/>
          </a:ln>
        </p:spPr>
      </p:sp>
      <p:sp>
        <p:nvSpPr>
          <p:cNvPr id="17" name="Text 15"/>
          <p:cNvSpPr/>
          <p:nvPr/>
        </p:nvSpPr>
        <p:spPr>
          <a:xfrm>
            <a:off x="457200" y="4206240"/>
            <a:ext cx="8229600" cy="320040"/>
          </a:xfrm>
          <a:prstGeom prst="rect">
            <a:avLst/>
          </a:prstGeom>
          <a:noFill/>
          <a:ln/>
        </p:spPr>
        <p:txBody>
          <a:bodyPr wrap="square" rtlCol="0" anchor="ctr"/>
          <a:lstStyle/>
          <a:p>
            <a:pPr marL="0" indent="0">
              <a:buNone/>
            </a:pPr>
            <a:r>
              <a:rPr lang="en-US" sz="950" dirty="0">
                <a:solidFill>
                  <a:srgbClr val="CBD5E1"/>
                </a:solidFill>
                <a:latin typeface="Calibri" pitchFamily="34" charset="0"/>
                <a:ea typeface="Calibri" pitchFamily="34" charset="-122"/>
                <a:cs typeface="Calibri" pitchFamily="34" charset="-120"/>
              </a:rPr>
              <a:t>Presented by  Riyas M  ·  Vaibhavi Purohit  ·  Srija Yadav  ·  Trupti Kunnurkar  ·  Pruthviraj A K  ·  N. Gowtham Sai</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0"/>
            <a:ext cx="164592" cy="914400"/>
          </a:xfrm>
          <a:prstGeom prst="rect">
            <a:avLst/>
          </a:prstGeom>
          <a:solidFill>
            <a:srgbClr val="F9A825"/>
          </a:solidFill>
          <a:ln w="12700">
            <a:solidFill>
              <a:srgbClr val="F9A825"/>
            </a:solidFill>
            <a:prstDash val="solid"/>
          </a:ln>
        </p:spPr>
      </p:sp>
      <p:sp>
        <p:nvSpPr>
          <p:cNvPr id="4" name="Text 2"/>
          <p:cNvSpPr/>
          <p:nvPr/>
        </p:nvSpPr>
        <p:spPr>
          <a:xfrm>
            <a:off x="320040" y="0"/>
            <a:ext cx="8229600" cy="914400"/>
          </a:xfrm>
          <a:prstGeom prst="rect">
            <a:avLst/>
          </a:prstGeom>
          <a:noFill/>
          <a:ln/>
        </p:spPr>
        <p:txBody>
          <a:bodyPr wrap="square" rtlCol="0" anchor="ctr"/>
          <a:lstStyle/>
          <a:p>
            <a:pPr marL="0" indent="0">
              <a:buNone/>
            </a:pPr>
            <a:r>
              <a:rPr lang="en-US" sz="2600" b="1" dirty="0">
                <a:solidFill>
                  <a:srgbClr val="FFFFFF"/>
                </a:solidFill>
              </a:rPr>
              <a:t>Project Overview</a:t>
            </a:r>
            <a:endParaRPr lang="en-US" sz="2600" dirty="0"/>
          </a:p>
        </p:txBody>
      </p:sp>
      <p:sp>
        <p:nvSpPr>
          <p:cNvPr id="5" name="Shape 3"/>
          <p:cNvSpPr/>
          <p:nvPr/>
        </p:nvSpPr>
        <p:spPr>
          <a:xfrm>
            <a:off x="365760" y="1097280"/>
            <a:ext cx="3931920" cy="347472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6" name="Shape 4"/>
          <p:cNvSpPr/>
          <p:nvPr/>
        </p:nvSpPr>
        <p:spPr>
          <a:xfrm>
            <a:off x="365760" y="1097280"/>
            <a:ext cx="3931920" cy="73152"/>
          </a:xfrm>
          <a:prstGeom prst="rect">
            <a:avLst/>
          </a:prstGeom>
          <a:solidFill>
            <a:srgbClr val="1565C0"/>
          </a:solidFill>
          <a:ln w="12700">
            <a:solidFill>
              <a:srgbClr val="1565C0"/>
            </a:solidFill>
            <a:prstDash val="solid"/>
          </a:ln>
        </p:spPr>
      </p:sp>
      <p:sp>
        <p:nvSpPr>
          <p:cNvPr id="7" name="Text 5"/>
          <p:cNvSpPr/>
          <p:nvPr/>
        </p:nvSpPr>
        <p:spPr>
          <a:xfrm>
            <a:off x="457200" y="1207008"/>
            <a:ext cx="3749040" cy="457200"/>
          </a:xfrm>
          <a:prstGeom prst="rect">
            <a:avLst/>
          </a:prstGeom>
          <a:noFill/>
          <a:ln/>
        </p:spPr>
        <p:txBody>
          <a:bodyPr wrap="square" rtlCol="0" anchor="ctr"/>
          <a:lstStyle/>
          <a:p>
            <a:pPr marL="0" indent="0">
              <a:buNone/>
            </a:pPr>
            <a:r>
              <a:rPr lang="en-US" sz="1300" b="1" dirty="0">
                <a:solidFill>
                  <a:srgbClr val="1565C0"/>
                </a:solidFill>
              </a:rPr>
              <a:t>Business Problem</a:t>
            </a:r>
            <a:endParaRPr lang="en-US" sz="1300" dirty="0"/>
          </a:p>
        </p:txBody>
      </p:sp>
      <p:sp>
        <p:nvSpPr>
          <p:cNvPr id="8" name="Text 6"/>
          <p:cNvSpPr/>
          <p:nvPr/>
        </p:nvSpPr>
        <p:spPr>
          <a:xfrm>
            <a:off x="457200" y="1691640"/>
            <a:ext cx="3749040" cy="2651760"/>
          </a:xfrm>
          <a:prstGeom prst="rect">
            <a:avLst/>
          </a:prstGeom>
          <a:noFill/>
          <a:ln/>
        </p:spPr>
        <p:txBody>
          <a:bodyPr wrap="square" rtlCol="0" anchor="ctr"/>
          <a:lstStyle/>
          <a:p>
            <a:pPr marL="0" indent="0">
              <a:lnSpc>
                <a:spcPct val="140000"/>
              </a:lnSpc>
              <a:buNone/>
            </a:pPr>
            <a:r>
              <a:rPr lang="en-US" sz="1200" dirty="0">
                <a:solidFill>
                  <a:srgbClr val="1E293B"/>
                </a:solidFill>
                <a:latin typeface="Calibri" pitchFamily="34" charset="0"/>
                <a:ea typeface="Calibri" pitchFamily="34" charset="-122"/>
                <a:cs typeface="Calibri" pitchFamily="34" charset="-120"/>
              </a:rPr>
              <a:t>Airlines generate vast operational data, yet turning that data into decisions requires structured analysis. This project addresses the need to evaluate carrier performance, load factors, and passenger trends across time dimensions.</a:t>
            </a:r>
            <a:endParaRPr lang="en-US" sz="1200" dirty="0"/>
          </a:p>
        </p:txBody>
      </p:sp>
      <p:sp>
        <p:nvSpPr>
          <p:cNvPr id="9" name="Shape 7"/>
          <p:cNvSpPr/>
          <p:nvPr/>
        </p:nvSpPr>
        <p:spPr>
          <a:xfrm>
            <a:off x="4846320" y="1097280"/>
            <a:ext cx="3931920" cy="347472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0" name="Shape 8"/>
          <p:cNvSpPr/>
          <p:nvPr/>
        </p:nvSpPr>
        <p:spPr>
          <a:xfrm>
            <a:off x="4846320" y="1097280"/>
            <a:ext cx="3931920" cy="73152"/>
          </a:xfrm>
          <a:prstGeom prst="rect">
            <a:avLst/>
          </a:prstGeom>
          <a:solidFill>
            <a:srgbClr val="F9A825"/>
          </a:solidFill>
          <a:ln w="12700">
            <a:solidFill>
              <a:srgbClr val="F9A825"/>
            </a:solidFill>
            <a:prstDash val="solid"/>
          </a:ln>
        </p:spPr>
      </p:sp>
      <p:sp>
        <p:nvSpPr>
          <p:cNvPr id="11" name="Text 9"/>
          <p:cNvSpPr/>
          <p:nvPr/>
        </p:nvSpPr>
        <p:spPr>
          <a:xfrm>
            <a:off x="4937760" y="1207008"/>
            <a:ext cx="3749040" cy="457200"/>
          </a:xfrm>
          <a:prstGeom prst="rect">
            <a:avLst/>
          </a:prstGeom>
          <a:noFill/>
          <a:ln/>
        </p:spPr>
        <p:txBody>
          <a:bodyPr wrap="square" rtlCol="0" anchor="ctr"/>
          <a:lstStyle/>
          <a:p>
            <a:pPr marL="0" indent="0">
              <a:buNone/>
            </a:pPr>
            <a:r>
              <a:rPr lang="en-US" sz="1300" b="1" dirty="0">
                <a:solidFill>
                  <a:srgbClr val="0D1B3E"/>
                </a:solidFill>
              </a:rPr>
              <a:t>Objectives</a:t>
            </a:r>
            <a:endParaRPr lang="en-US" sz="1300" dirty="0"/>
          </a:p>
        </p:txBody>
      </p:sp>
      <p:sp>
        <p:nvSpPr>
          <p:cNvPr id="12" name="Text 10"/>
          <p:cNvSpPr/>
          <p:nvPr/>
        </p:nvSpPr>
        <p:spPr>
          <a:xfrm>
            <a:off x="4937760" y="1737360"/>
            <a:ext cx="3749040" cy="2651760"/>
          </a:xfrm>
          <a:prstGeom prst="rect">
            <a:avLst/>
          </a:prstGeom>
          <a:noFill/>
          <a:ln/>
        </p:spPr>
        <p:txBody>
          <a:bodyPr wrap="square" rtlCol="0" anchor="ctr"/>
          <a:lstStyle/>
          <a:p>
            <a:pPr marL="0" indent="0">
              <a:lnSpc>
                <a:spcPct val="150000"/>
              </a:lnSpc>
              <a:buNone/>
            </a:pPr>
            <a:r>
              <a:rPr lang="en-US" sz="1150" b="1" dirty="0">
                <a:solidFill>
                  <a:srgbClr val="F9A825"/>
                </a:solidFill>
                <a:latin typeface="Calibri" pitchFamily="34" charset="0"/>
                <a:ea typeface="Calibri" pitchFamily="34" charset="-122"/>
                <a:cs typeface="Calibri" pitchFamily="34" charset="-120"/>
              </a:rPr>
              <a:t>01  </a:t>
            </a:r>
            <a:r>
              <a:rPr lang="en-US" sz="1150" dirty="0">
                <a:solidFill>
                  <a:srgbClr val="1E293B"/>
                </a:solidFill>
                <a:latin typeface="Calibri" pitchFamily="34" charset="0"/>
                <a:ea typeface="Calibri" pitchFamily="34" charset="-122"/>
                <a:cs typeface="Calibri" pitchFamily="34" charset="-120"/>
              </a:rPr>
              <a:t>Analyse airline performance across carriers, routes, and time periods
</a:t>
            </a:r>
            <a:r>
              <a:rPr lang="en-US" sz="1150" b="1" dirty="0">
                <a:solidFill>
                  <a:srgbClr val="F9A825"/>
                </a:solidFill>
                <a:latin typeface="Calibri" pitchFamily="34" charset="0"/>
                <a:ea typeface="Calibri" pitchFamily="34" charset="-122"/>
                <a:cs typeface="Calibri" pitchFamily="34" charset="-120"/>
              </a:rPr>
              <a:t>02  </a:t>
            </a:r>
            <a:r>
              <a:rPr lang="en-US" sz="1150" dirty="0">
                <a:solidFill>
                  <a:srgbClr val="1E293B"/>
                </a:solidFill>
                <a:latin typeface="Calibri" pitchFamily="34" charset="0"/>
                <a:ea typeface="Calibri" pitchFamily="34" charset="-122"/>
                <a:cs typeface="Calibri" pitchFamily="34" charset="-120"/>
              </a:rPr>
              <a:t>Quantify seat utilisation through load factor metrics
</a:t>
            </a:r>
            <a:r>
              <a:rPr lang="en-US" sz="1150" b="1" dirty="0">
                <a:solidFill>
                  <a:srgbClr val="F9A825"/>
                </a:solidFill>
                <a:latin typeface="Calibri" pitchFamily="34" charset="0"/>
                <a:ea typeface="Calibri" pitchFamily="34" charset="-122"/>
                <a:cs typeface="Calibri" pitchFamily="34" charset="-120"/>
              </a:rPr>
              <a:t>03  </a:t>
            </a:r>
            <a:r>
              <a:rPr lang="en-US" sz="1150" dirty="0">
                <a:solidFill>
                  <a:srgbClr val="1E293B"/>
                </a:solidFill>
                <a:latin typeface="Calibri" pitchFamily="34" charset="0"/>
                <a:ea typeface="Calibri" pitchFamily="34" charset="-122"/>
                <a:cs typeface="Calibri" pitchFamily="34" charset="-120"/>
              </a:rPr>
              <a:t>Identify growth patterns and operational inefficiencies
</a:t>
            </a:r>
            <a:r>
              <a:rPr lang="en-US" sz="1150" b="1" dirty="0">
                <a:solidFill>
                  <a:srgbClr val="F9A825"/>
                </a:solidFill>
                <a:latin typeface="Calibri" pitchFamily="34" charset="0"/>
                <a:ea typeface="Calibri" pitchFamily="34" charset="-122"/>
                <a:cs typeface="Calibri" pitchFamily="34" charset="-120"/>
              </a:rPr>
              <a:t>04  </a:t>
            </a:r>
            <a:r>
              <a:rPr lang="en-US" sz="1150" dirty="0">
                <a:solidFill>
                  <a:srgbClr val="1E293B"/>
                </a:solidFill>
                <a:latin typeface="Calibri" pitchFamily="34" charset="0"/>
                <a:ea typeface="Calibri" pitchFamily="34" charset="-122"/>
                <a:cs typeface="Calibri" pitchFamily="34" charset="-120"/>
              </a:rPr>
              <a:t>Deliver interactive dashboards for business decision-making</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0"/>
            <a:ext cx="164592" cy="914400"/>
          </a:xfrm>
          <a:prstGeom prst="rect">
            <a:avLst/>
          </a:prstGeom>
          <a:solidFill>
            <a:srgbClr val="F9A825"/>
          </a:solidFill>
          <a:ln w="12700">
            <a:solidFill>
              <a:srgbClr val="F9A825"/>
            </a:solidFill>
            <a:prstDash val="solid"/>
          </a:ln>
        </p:spPr>
      </p:sp>
      <p:sp>
        <p:nvSpPr>
          <p:cNvPr id="4" name="Text 2"/>
          <p:cNvSpPr/>
          <p:nvPr/>
        </p:nvSpPr>
        <p:spPr>
          <a:xfrm>
            <a:off x="320040" y="0"/>
            <a:ext cx="8229600" cy="914400"/>
          </a:xfrm>
          <a:prstGeom prst="rect">
            <a:avLst/>
          </a:prstGeom>
          <a:noFill/>
          <a:ln/>
        </p:spPr>
        <p:txBody>
          <a:bodyPr wrap="square" rtlCol="0" anchor="ctr"/>
          <a:lstStyle/>
          <a:p>
            <a:pPr marL="0" indent="0">
              <a:buNone/>
            </a:pPr>
            <a:r>
              <a:rPr lang="en-US" sz="2600" b="1" dirty="0">
                <a:solidFill>
                  <a:srgbClr val="FFFFFF"/>
                </a:solidFill>
              </a:rPr>
              <a:t>Dataset Description</a:t>
            </a:r>
            <a:endParaRPr lang="en-US" sz="2600" dirty="0"/>
          </a:p>
        </p:txBody>
      </p:sp>
      <p:sp>
        <p:nvSpPr>
          <p:cNvPr id="5" name="Text 3"/>
          <p:cNvSpPr/>
          <p:nvPr/>
        </p:nvSpPr>
        <p:spPr>
          <a:xfrm>
            <a:off x="365760" y="1005840"/>
            <a:ext cx="8412480" cy="457200"/>
          </a:xfrm>
          <a:prstGeom prst="rect">
            <a:avLst/>
          </a:prstGeom>
          <a:noFill/>
          <a:ln/>
        </p:spPr>
        <p:txBody>
          <a:bodyPr wrap="square" rtlCol="0" anchor="ctr"/>
          <a:lstStyle/>
          <a:p>
            <a:pPr marL="0" indent="0">
              <a:buNone/>
            </a:pPr>
            <a:r>
              <a:rPr lang="en-US" sz="1250" dirty="0">
                <a:solidFill>
                  <a:srgbClr val="64748B"/>
                </a:solidFill>
                <a:latin typeface="Calibri" pitchFamily="34" charset="0"/>
                <a:ea typeface="Calibri" pitchFamily="34" charset="-122"/>
                <a:cs typeface="Calibri" pitchFamily="34" charset="-120"/>
              </a:rPr>
              <a:t>The dataset captures airline operations across multiple carriers and routes, enabling granular time-based and route-based performance analysis.</a:t>
            </a:r>
            <a:endParaRPr lang="en-US" sz="1250" dirty="0"/>
          </a:p>
        </p:txBody>
      </p:sp>
      <p:sp>
        <p:nvSpPr>
          <p:cNvPr id="6" name="Shape 4"/>
          <p:cNvSpPr/>
          <p:nvPr/>
        </p:nvSpPr>
        <p:spPr>
          <a:xfrm>
            <a:off x="365760" y="1600200"/>
            <a:ext cx="2697480" cy="31089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365760" y="1600200"/>
            <a:ext cx="2697480" cy="502920"/>
          </a:xfrm>
          <a:prstGeom prst="rect">
            <a:avLst/>
          </a:prstGeom>
          <a:solidFill>
            <a:srgbClr val="1565C0"/>
          </a:solidFill>
          <a:ln w="12700">
            <a:solidFill>
              <a:srgbClr val="1565C0"/>
            </a:solidFill>
            <a:prstDash val="solid"/>
          </a:ln>
        </p:spPr>
      </p:sp>
      <p:sp>
        <p:nvSpPr>
          <p:cNvPr id="8" name="Text 6"/>
          <p:cNvSpPr/>
          <p:nvPr/>
        </p:nvSpPr>
        <p:spPr>
          <a:xfrm>
            <a:off x="475488" y="1600200"/>
            <a:ext cx="2468880" cy="502920"/>
          </a:xfrm>
          <a:prstGeom prst="rect">
            <a:avLst/>
          </a:prstGeom>
          <a:noFill/>
          <a:ln/>
        </p:spPr>
        <p:txBody>
          <a:bodyPr wrap="square" rtlCol="0" anchor="ctr"/>
          <a:lstStyle/>
          <a:p>
            <a:pPr marL="0" indent="0">
              <a:buNone/>
            </a:pPr>
            <a:r>
              <a:rPr lang="en-US" sz="1400" b="1" dirty="0">
                <a:solidFill>
                  <a:srgbClr val="FFFFFF"/>
                </a:solidFill>
              </a:rPr>
              <a:t>Temporal</a:t>
            </a:r>
            <a:endParaRPr lang="en-US" sz="1400" dirty="0"/>
          </a:p>
        </p:txBody>
      </p:sp>
      <p:sp>
        <p:nvSpPr>
          <p:cNvPr id="9" name="Text 7"/>
          <p:cNvSpPr/>
          <p:nvPr/>
        </p:nvSpPr>
        <p:spPr>
          <a:xfrm>
            <a:off x="475488" y="2194560"/>
            <a:ext cx="2468880" cy="274320"/>
          </a:xfrm>
          <a:prstGeom prst="rect">
            <a:avLst/>
          </a:prstGeom>
          <a:noFill/>
          <a:ln/>
        </p:spPr>
        <p:txBody>
          <a:bodyPr wrap="square" rtlCol="0" anchor="ctr"/>
          <a:lstStyle/>
          <a:p>
            <a:pPr marL="0" indent="0">
              <a:buNone/>
            </a:pPr>
            <a:r>
              <a:rPr lang="en-US" sz="900" b="1" dirty="0">
                <a:solidFill>
                  <a:srgbClr val="1565C0"/>
                </a:solidFill>
              </a:rPr>
              <a:t>Key Fields</a:t>
            </a:r>
            <a:endParaRPr lang="en-US" sz="900" dirty="0"/>
          </a:p>
        </p:txBody>
      </p:sp>
      <p:sp>
        <p:nvSpPr>
          <p:cNvPr id="10" name="Text 8"/>
          <p:cNvSpPr/>
          <p:nvPr/>
        </p:nvSpPr>
        <p:spPr>
          <a:xfrm>
            <a:off x="475488" y="2450592"/>
            <a:ext cx="2468880" cy="457200"/>
          </a:xfrm>
          <a:prstGeom prst="rect">
            <a:avLst/>
          </a:prstGeom>
          <a:noFill/>
          <a:ln/>
        </p:spPr>
        <p:txBody>
          <a:bodyPr wrap="square" rtlCol="0" anchor="ctr"/>
          <a:lstStyle/>
          <a:p>
            <a:pPr marL="0" indent="0">
              <a:buNone/>
            </a:pPr>
            <a:r>
              <a:rPr lang="en-US" sz="1050" b="1" dirty="0">
                <a:solidFill>
                  <a:srgbClr val="1E293B"/>
                </a:solidFill>
              </a:rPr>
              <a:t>Year · Month · Day</a:t>
            </a:r>
            <a:endParaRPr lang="en-US" sz="1050" dirty="0"/>
          </a:p>
        </p:txBody>
      </p:sp>
      <p:sp>
        <p:nvSpPr>
          <p:cNvPr id="11" name="Text 9"/>
          <p:cNvSpPr/>
          <p:nvPr/>
        </p:nvSpPr>
        <p:spPr>
          <a:xfrm>
            <a:off x="475488" y="2944368"/>
            <a:ext cx="2468880" cy="1600200"/>
          </a:xfrm>
          <a:prstGeom prst="rect">
            <a:avLst/>
          </a:prstGeom>
          <a:noFill/>
          <a:ln/>
        </p:spPr>
        <p:txBody>
          <a:bodyPr wrap="square" rtlCol="0" anchor="ctr"/>
          <a:lstStyle/>
          <a:p>
            <a:pPr marL="0" indent="0">
              <a:lnSpc>
                <a:spcPct val="130000"/>
              </a:lnSpc>
              <a:buNone/>
            </a:pPr>
            <a:r>
              <a:rPr lang="en-US" sz="1050" dirty="0">
                <a:solidFill>
                  <a:srgbClr val="64748B"/>
                </a:solidFill>
              </a:rPr>
              <a:t>Enabling daily, monthly, quarterly, and yearly aggregations for time intelligence calculations.</a:t>
            </a:r>
            <a:endParaRPr lang="en-US" sz="1050" dirty="0"/>
          </a:p>
        </p:txBody>
      </p:sp>
      <p:sp>
        <p:nvSpPr>
          <p:cNvPr id="12" name="Shape 10"/>
          <p:cNvSpPr/>
          <p:nvPr/>
        </p:nvSpPr>
        <p:spPr>
          <a:xfrm>
            <a:off x="3246120" y="1600200"/>
            <a:ext cx="2697480" cy="31089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3" name="Shape 11"/>
          <p:cNvSpPr/>
          <p:nvPr/>
        </p:nvSpPr>
        <p:spPr>
          <a:xfrm>
            <a:off x="3246120" y="1600200"/>
            <a:ext cx="2697480" cy="502920"/>
          </a:xfrm>
          <a:prstGeom prst="rect">
            <a:avLst/>
          </a:prstGeom>
          <a:solidFill>
            <a:srgbClr val="00897B"/>
          </a:solidFill>
          <a:ln w="12700">
            <a:solidFill>
              <a:srgbClr val="00897B"/>
            </a:solidFill>
            <a:prstDash val="solid"/>
          </a:ln>
        </p:spPr>
      </p:sp>
      <p:sp>
        <p:nvSpPr>
          <p:cNvPr id="14" name="Text 12"/>
          <p:cNvSpPr/>
          <p:nvPr/>
        </p:nvSpPr>
        <p:spPr>
          <a:xfrm>
            <a:off x="3355848" y="1600200"/>
            <a:ext cx="2468880" cy="502920"/>
          </a:xfrm>
          <a:prstGeom prst="rect">
            <a:avLst/>
          </a:prstGeom>
          <a:noFill/>
          <a:ln/>
        </p:spPr>
        <p:txBody>
          <a:bodyPr wrap="square" rtlCol="0" anchor="ctr"/>
          <a:lstStyle/>
          <a:p>
            <a:pPr marL="0" indent="0">
              <a:buNone/>
            </a:pPr>
            <a:r>
              <a:rPr lang="en-US" sz="1400" b="1" dirty="0">
                <a:solidFill>
                  <a:srgbClr val="FFFFFF"/>
                </a:solidFill>
              </a:rPr>
              <a:t>Operational</a:t>
            </a:r>
            <a:endParaRPr lang="en-US" sz="1400" dirty="0"/>
          </a:p>
        </p:txBody>
      </p:sp>
      <p:sp>
        <p:nvSpPr>
          <p:cNvPr id="15" name="Text 13"/>
          <p:cNvSpPr/>
          <p:nvPr/>
        </p:nvSpPr>
        <p:spPr>
          <a:xfrm>
            <a:off x="3355848" y="2194560"/>
            <a:ext cx="2468880" cy="274320"/>
          </a:xfrm>
          <a:prstGeom prst="rect">
            <a:avLst/>
          </a:prstGeom>
          <a:noFill/>
          <a:ln/>
        </p:spPr>
        <p:txBody>
          <a:bodyPr wrap="square" rtlCol="0" anchor="ctr"/>
          <a:lstStyle/>
          <a:p>
            <a:pPr marL="0" indent="0">
              <a:buNone/>
            </a:pPr>
            <a:r>
              <a:rPr lang="en-US" sz="900" b="1" dirty="0">
                <a:solidFill>
                  <a:srgbClr val="00897B"/>
                </a:solidFill>
              </a:rPr>
              <a:t>Key Fields</a:t>
            </a:r>
            <a:endParaRPr lang="en-US" sz="900" dirty="0"/>
          </a:p>
        </p:txBody>
      </p:sp>
      <p:sp>
        <p:nvSpPr>
          <p:cNvPr id="16" name="Text 14"/>
          <p:cNvSpPr/>
          <p:nvPr/>
        </p:nvSpPr>
        <p:spPr>
          <a:xfrm>
            <a:off x="3355848" y="2450592"/>
            <a:ext cx="2468880" cy="457200"/>
          </a:xfrm>
          <a:prstGeom prst="rect">
            <a:avLst/>
          </a:prstGeom>
          <a:noFill/>
          <a:ln/>
        </p:spPr>
        <p:txBody>
          <a:bodyPr wrap="square" rtlCol="0" anchor="ctr"/>
          <a:lstStyle/>
          <a:p>
            <a:pPr marL="0" indent="0">
              <a:buNone/>
            </a:pPr>
            <a:r>
              <a:rPr lang="en-US" sz="1050" b="1" dirty="0">
                <a:solidFill>
                  <a:srgbClr val="1E293B"/>
                </a:solidFill>
              </a:rPr>
              <a:t>Carrier Name · Flights · Passengers · Seats</a:t>
            </a:r>
            <a:endParaRPr lang="en-US" sz="1050" dirty="0"/>
          </a:p>
        </p:txBody>
      </p:sp>
      <p:sp>
        <p:nvSpPr>
          <p:cNvPr id="17" name="Text 15"/>
          <p:cNvSpPr/>
          <p:nvPr/>
        </p:nvSpPr>
        <p:spPr>
          <a:xfrm>
            <a:off x="3355848" y="2944368"/>
            <a:ext cx="2468880" cy="1600200"/>
          </a:xfrm>
          <a:prstGeom prst="rect">
            <a:avLst/>
          </a:prstGeom>
          <a:noFill/>
          <a:ln/>
        </p:spPr>
        <p:txBody>
          <a:bodyPr wrap="square" rtlCol="0" anchor="ctr"/>
          <a:lstStyle/>
          <a:p>
            <a:pPr marL="0" indent="0">
              <a:lnSpc>
                <a:spcPct val="130000"/>
              </a:lnSpc>
              <a:buNone/>
            </a:pPr>
            <a:r>
              <a:rPr lang="en-US" sz="1050" dirty="0">
                <a:solidFill>
                  <a:srgbClr val="64748B"/>
                </a:solidFill>
              </a:rPr>
              <a:t>Core performance indicators for load factor, utilisation, and throughput analysis.</a:t>
            </a:r>
            <a:endParaRPr lang="en-US" sz="1050" dirty="0"/>
          </a:p>
        </p:txBody>
      </p:sp>
      <p:sp>
        <p:nvSpPr>
          <p:cNvPr id="18" name="Shape 16"/>
          <p:cNvSpPr/>
          <p:nvPr/>
        </p:nvSpPr>
        <p:spPr>
          <a:xfrm>
            <a:off x="6126480" y="1600200"/>
            <a:ext cx="2697480" cy="31089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9" name="Shape 17"/>
          <p:cNvSpPr/>
          <p:nvPr/>
        </p:nvSpPr>
        <p:spPr>
          <a:xfrm>
            <a:off x="6126480" y="1600200"/>
            <a:ext cx="2697480" cy="502920"/>
          </a:xfrm>
          <a:prstGeom prst="rect">
            <a:avLst/>
          </a:prstGeom>
          <a:solidFill>
            <a:srgbClr val="F9A825"/>
          </a:solidFill>
          <a:ln w="12700">
            <a:solidFill>
              <a:srgbClr val="F9A825"/>
            </a:solidFill>
            <a:prstDash val="solid"/>
          </a:ln>
        </p:spPr>
      </p:sp>
      <p:sp>
        <p:nvSpPr>
          <p:cNvPr id="20" name="Text 18"/>
          <p:cNvSpPr/>
          <p:nvPr/>
        </p:nvSpPr>
        <p:spPr>
          <a:xfrm>
            <a:off x="6236208" y="1600200"/>
            <a:ext cx="2468880" cy="502920"/>
          </a:xfrm>
          <a:prstGeom prst="rect">
            <a:avLst/>
          </a:prstGeom>
          <a:noFill/>
          <a:ln/>
        </p:spPr>
        <p:txBody>
          <a:bodyPr wrap="square" rtlCol="0" anchor="ctr"/>
          <a:lstStyle/>
          <a:p>
            <a:pPr marL="0" indent="0">
              <a:buNone/>
            </a:pPr>
            <a:r>
              <a:rPr lang="en-US" sz="1400" b="1" dirty="0">
                <a:solidFill>
                  <a:srgbClr val="FFFFFF"/>
                </a:solidFill>
              </a:rPr>
              <a:t>Route</a:t>
            </a:r>
            <a:endParaRPr lang="en-US" sz="1400" dirty="0"/>
          </a:p>
        </p:txBody>
      </p:sp>
      <p:sp>
        <p:nvSpPr>
          <p:cNvPr id="21" name="Text 19"/>
          <p:cNvSpPr/>
          <p:nvPr/>
        </p:nvSpPr>
        <p:spPr>
          <a:xfrm>
            <a:off x="6236208" y="2194560"/>
            <a:ext cx="2468880" cy="274320"/>
          </a:xfrm>
          <a:prstGeom prst="rect">
            <a:avLst/>
          </a:prstGeom>
          <a:noFill/>
          <a:ln/>
        </p:spPr>
        <p:txBody>
          <a:bodyPr wrap="square" rtlCol="0" anchor="ctr"/>
          <a:lstStyle/>
          <a:p>
            <a:pPr marL="0" indent="0">
              <a:buNone/>
            </a:pPr>
            <a:r>
              <a:rPr lang="en-US" sz="900" b="1" dirty="0">
                <a:solidFill>
                  <a:srgbClr val="F9A825"/>
                </a:solidFill>
              </a:rPr>
              <a:t>Key Fields</a:t>
            </a:r>
            <a:endParaRPr lang="en-US" sz="900" dirty="0"/>
          </a:p>
        </p:txBody>
      </p:sp>
      <p:sp>
        <p:nvSpPr>
          <p:cNvPr id="22" name="Text 20"/>
          <p:cNvSpPr/>
          <p:nvPr/>
        </p:nvSpPr>
        <p:spPr>
          <a:xfrm>
            <a:off x="6236208" y="2450592"/>
            <a:ext cx="2468880" cy="457200"/>
          </a:xfrm>
          <a:prstGeom prst="rect">
            <a:avLst/>
          </a:prstGeom>
          <a:noFill/>
          <a:ln/>
        </p:spPr>
        <p:txBody>
          <a:bodyPr wrap="square" rtlCol="0" anchor="ctr"/>
          <a:lstStyle/>
          <a:p>
            <a:pPr marL="0" indent="0">
              <a:buNone/>
            </a:pPr>
            <a:r>
              <a:rPr lang="en-US" sz="1050" b="1" dirty="0">
                <a:solidFill>
                  <a:srgbClr val="1E293B"/>
                </a:solidFill>
              </a:rPr>
              <a:t>Origin · Destination · Distance Group</a:t>
            </a:r>
            <a:endParaRPr lang="en-US" sz="1050" dirty="0"/>
          </a:p>
        </p:txBody>
      </p:sp>
      <p:sp>
        <p:nvSpPr>
          <p:cNvPr id="23" name="Text 21"/>
          <p:cNvSpPr/>
          <p:nvPr/>
        </p:nvSpPr>
        <p:spPr>
          <a:xfrm>
            <a:off x="6236208" y="2944368"/>
            <a:ext cx="2468880" cy="1600200"/>
          </a:xfrm>
          <a:prstGeom prst="rect">
            <a:avLst/>
          </a:prstGeom>
          <a:noFill/>
          <a:ln/>
        </p:spPr>
        <p:txBody>
          <a:bodyPr wrap="square" rtlCol="0" anchor="ctr"/>
          <a:lstStyle/>
          <a:p>
            <a:pPr marL="0" indent="0">
              <a:lnSpc>
                <a:spcPct val="130000"/>
              </a:lnSpc>
              <a:buNone/>
            </a:pPr>
            <a:r>
              <a:rPr lang="en-US" sz="1050" dirty="0">
                <a:solidFill>
                  <a:srgbClr val="64748B"/>
                </a:solidFill>
              </a:rPr>
              <a:t>For route, geography, and segment-based analysis across short and long-haul corridors.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0"/>
            <a:ext cx="164592" cy="914400"/>
          </a:xfrm>
          <a:prstGeom prst="rect">
            <a:avLst/>
          </a:prstGeom>
          <a:solidFill>
            <a:srgbClr val="F9A825"/>
          </a:solidFill>
          <a:ln w="12700">
            <a:solidFill>
              <a:srgbClr val="F9A825"/>
            </a:solidFill>
            <a:prstDash val="solid"/>
          </a:ln>
        </p:spPr>
      </p:sp>
      <p:sp>
        <p:nvSpPr>
          <p:cNvPr id="4" name="Text 2"/>
          <p:cNvSpPr/>
          <p:nvPr/>
        </p:nvSpPr>
        <p:spPr>
          <a:xfrm>
            <a:off x="320040" y="0"/>
            <a:ext cx="8229600" cy="914400"/>
          </a:xfrm>
          <a:prstGeom prst="rect">
            <a:avLst/>
          </a:prstGeom>
          <a:noFill/>
          <a:ln/>
        </p:spPr>
        <p:txBody>
          <a:bodyPr wrap="square" rtlCol="0" anchor="ctr"/>
          <a:lstStyle/>
          <a:p>
            <a:pPr marL="0" indent="0">
              <a:buNone/>
            </a:pPr>
            <a:r>
              <a:rPr lang="en-US" sz="2600" b="1" dirty="0">
                <a:solidFill>
                  <a:srgbClr val="FFFFFF"/>
                </a:solidFill>
              </a:rPr>
              <a:t>Data Preparation</a:t>
            </a:r>
            <a:endParaRPr lang="en-US" sz="2600" dirty="0"/>
          </a:p>
        </p:txBody>
      </p:sp>
      <p:sp>
        <p:nvSpPr>
          <p:cNvPr id="5" name="Shape 3"/>
          <p:cNvSpPr/>
          <p:nvPr/>
        </p:nvSpPr>
        <p:spPr>
          <a:xfrm>
            <a:off x="365760" y="1143000"/>
            <a:ext cx="8412480" cy="107899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6" name="Shape 4"/>
          <p:cNvSpPr/>
          <p:nvPr/>
        </p:nvSpPr>
        <p:spPr>
          <a:xfrm>
            <a:off x="365760" y="1143000"/>
            <a:ext cx="73152" cy="1078992"/>
          </a:xfrm>
          <a:prstGeom prst="rect">
            <a:avLst/>
          </a:prstGeom>
          <a:solidFill>
            <a:srgbClr val="1565C0"/>
          </a:solidFill>
          <a:ln w="12700">
            <a:solidFill>
              <a:srgbClr val="1565C0"/>
            </a:solidFill>
            <a:prstDash val="solid"/>
          </a:ln>
        </p:spPr>
      </p:sp>
      <p:sp>
        <p:nvSpPr>
          <p:cNvPr id="7" name="Shape 5"/>
          <p:cNvSpPr/>
          <p:nvPr/>
        </p:nvSpPr>
        <p:spPr>
          <a:xfrm>
            <a:off x="594360" y="1417320"/>
            <a:ext cx="502920" cy="502920"/>
          </a:xfrm>
          <a:prstGeom prst="ellipse">
            <a:avLst/>
          </a:prstGeom>
          <a:solidFill>
            <a:srgbClr val="1565C0"/>
          </a:solidFill>
          <a:ln w="12700">
            <a:solidFill>
              <a:srgbClr val="1565C0"/>
            </a:solidFill>
            <a:prstDash val="solid"/>
          </a:ln>
        </p:spPr>
      </p:sp>
      <p:sp>
        <p:nvSpPr>
          <p:cNvPr id="8" name="Text 6"/>
          <p:cNvSpPr/>
          <p:nvPr/>
        </p:nvSpPr>
        <p:spPr>
          <a:xfrm>
            <a:off x="594360" y="1417320"/>
            <a:ext cx="502920" cy="502920"/>
          </a:xfrm>
          <a:prstGeom prst="rect">
            <a:avLst/>
          </a:prstGeom>
          <a:noFill/>
          <a:ln/>
        </p:spPr>
        <p:txBody>
          <a:bodyPr wrap="square" rtlCol="0" anchor="ctr"/>
          <a:lstStyle/>
          <a:p>
            <a:pPr marL="0" indent="0" algn="ctr">
              <a:buNone/>
            </a:pPr>
            <a:r>
              <a:rPr lang="en-US" sz="1000" b="1" dirty="0">
                <a:solidFill>
                  <a:srgbClr val="FFFFFF"/>
                </a:solidFill>
              </a:rPr>
              <a:t>01</a:t>
            </a:r>
            <a:endParaRPr lang="en-US" sz="1000" dirty="0"/>
          </a:p>
        </p:txBody>
      </p:sp>
      <p:sp>
        <p:nvSpPr>
          <p:cNvPr id="9" name="Text 7"/>
          <p:cNvSpPr/>
          <p:nvPr/>
        </p:nvSpPr>
        <p:spPr>
          <a:xfrm>
            <a:off x="1234440" y="1216152"/>
            <a:ext cx="7223760" cy="365760"/>
          </a:xfrm>
          <a:prstGeom prst="rect">
            <a:avLst/>
          </a:prstGeom>
          <a:noFill/>
          <a:ln/>
        </p:spPr>
        <p:txBody>
          <a:bodyPr wrap="square" rtlCol="0" anchor="ctr"/>
          <a:lstStyle/>
          <a:p>
            <a:pPr marL="0" indent="0">
              <a:buNone/>
            </a:pPr>
            <a:r>
              <a:rPr lang="en-US" sz="1350" b="1" dirty="0">
                <a:solidFill>
                  <a:srgbClr val="1E293B"/>
                </a:solidFill>
              </a:rPr>
              <a:t>Date Field Creation</a:t>
            </a:r>
            <a:endParaRPr lang="en-US" sz="1350" dirty="0"/>
          </a:p>
        </p:txBody>
      </p:sp>
      <p:sp>
        <p:nvSpPr>
          <p:cNvPr id="10" name="Text 8"/>
          <p:cNvSpPr/>
          <p:nvPr/>
        </p:nvSpPr>
        <p:spPr>
          <a:xfrm>
            <a:off x="1234440" y="1600200"/>
            <a:ext cx="7223760" cy="548640"/>
          </a:xfrm>
          <a:prstGeom prst="rect">
            <a:avLst/>
          </a:prstGeom>
          <a:noFill/>
          <a:ln/>
        </p:spPr>
        <p:txBody>
          <a:bodyPr wrap="square" rtlCol="0" anchor="ctr"/>
          <a:lstStyle/>
          <a:p>
            <a:pPr marL="0" indent="0">
              <a:buNone/>
            </a:pPr>
            <a:r>
              <a:rPr lang="en-US" sz="1150" dirty="0">
                <a:solidFill>
                  <a:srgbClr val="64748B"/>
                </a:solidFill>
              </a:rPr>
              <a:t>Derived Year, Month, and Day columns from raw timestamps for time-intelligence calculations.</a:t>
            </a:r>
            <a:endParaRPr lang="en-US" sz="1150" dirty="0"/>
          </a:p>
        </p:txBody>
      </p:sp>
      <p:sp>
        <p:nvSpPr>
          <p:cNvPr id="11" name="Shape 9"/>
          <p:cNvSpPr/>
          <p:nvPr/>
        </p:nvSpPr>
        <p:spPr>
          <a:xfrm>
            <a:off x="365760" y="2377440"/>
            <a:ext cx="8412480" cy="107899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2" name="Shape 10"/>
          <p:cNvSpPr/>
          <p:nvPr/>
        </p:nvSpPr>
        <p:spPr>
          <a:xfrm>
            <a:off x="365760" y="2377440"/>
            <a:ext cx="73152" cy="1078992"/>
          </a:xfrm>
          <a:prstGeom prst="rect">
            <a:avLst/>
          </a:prstGeom>
          <a:solidFill>
            <a:srgbClr val="00897B"/>
          </a:solidFill>
          <a:ln w="12700">
            <a:solidFill>
              <a:srgbClr val="00897B"/>
            </a:solidFill>
            <a:prstDash val="solid"/>
          </a:ln>
        </p:spPr>
      </p:sp>
      <p:sp>
        <p:nvSpPr>
          <p:cNvPr id="13" name="Shape 11"/>
          <p:cNvSpPr/>
          <p:nvPr/>
        </p:nvSpPr>
        <p:spPr>
          <a:xfrm>
            <a:off x="594360" y="2651760"/>
            <a:ext cx="502920" cy="502920"/>
          </a:xfrm>
          <a:prstGeom prst="ellipse">
            <a:avLst/>
          </a:prstGeom>
          <a:solidFill>
            <a:srgbClr val="00897B"/>
          </a:solidFill>
          <a:ln w="12700">
            <a:solidFill>
              <a:srgbClr val="00897B"/>
            </a:solidFill>
            <a:prstDash val="solid"/>
          </a:ln>
        </p:spPr>
      </p:sp>
      <p:sp>
        <p:nvSpPr>
          <p:cNvPr id="14" name="Text 12"/>
          <p:cNvSpPr/>
          <p:nvPr/>
        </p:nvSpPr>
        <p:spPr>
          <a:xfrm>
            <a:off x="594360" y="2651760"/>
            <a:ext cx="502920" cy="502920"/>
          </a:xfrm>
          <a:prstGeom prst="rect">
            <a:avLst/>
          </a:prstGeom>
          <a:noFill/>
          <a:ln/>
        </p:spPr>
        <p:txBody>
          <a:bodyPr wrap="square" rtlCol="0" anchor="ctr"/>
          <a:lstStyle/>
          <a:p>
            <a:pPr marL="0" indent="0" algn="ctr">
              <a:buNone/>
            </a:pPr>
            <a:r>
              <a:rPr lang="en-US" sz="1000" b="1" dirty="0">
                <a:solidFill>
                  <a:srgbClr val="FFFFFF"/>
                </a:solidFill>
              </a:rPr>
              <a:t>02</a:t>
            </a:r>
            <a:endParaRPr lang="en-US" sz="1000" dirty="0"/>
          </a:p>
        </p:txBody>
      </p:sp>
      <p:sp>
        <p:nvSpPr>
          <p:cNvPr id="15" name="Text 13"/>
          <p:cNvSpPr/>
          <p:nvPr/>
        </p:nvSpPr>
        <p:spPr>
          <a:xfrm>
            <a:off x="1234440" y="2450592"/>
            <a:ext cx="7223760" cy="365760"/>
          </a:xfrm>
          <a:prstGeom prst="rect">
            <a:avLst/>
          </a:prstGeom>
          <a:noFill/>
          <a:ln/>
        </p:spPr>
        <p:txBody>
          <a:bodyPr wrap="square" rtlCol="0" anchor="ctr"/>
          <a:lstStyle/>
          <a:p>
            <a:pPr marL="0" indent="0">
              <a:buNone/>
            </a:pPr>
            <a:r>
              <a:rPr lang="en-US" sz="1350" b="1" dirty="0">
                <a:solidFill>
                  <a:srgbClr val="1E293B"/>
                </a:solidFill>
              </a:rPr>
              <a:t>Cleaning &amp; Transformation</a:t>
            </a:r>
            <a:endParaRPr lang="en-US" sz="1350" dirty="0"/>
          </a:p>
        </p:txBody>
      </p:sp>
      <p:sp>
        <p:nvSpPr>
          <p:cNvPr id="16" name="Text 14"/>
          <p:cNvSpPr/>
          <p:nvPr/>
        </p:nvSpPr>
        <p:spPr>
          <a:xfrm>
            <a:off x="1234440" y="2834640"/>
            <a:ext cx="7223760" cy="548640"/>
          </a:xfrm>
          <a:prstGeom prst="rect">
            <a:avLst/>
          </a:prstGeom>
          <a:noFill/>
          <a:ln/>
        </p:spPr>
        <p:txBody>
          <a:bodyPr wrap="square" rtlCol="0" anchor="ctr"/>
          <a:lstStyle/>
          <a:p>
            <a:pPr marL="0" indent="0">
              <a:buNone/>
            </a:pPr>
            <a:r>
              <a:rPr lang="en-US" sz="1150" dirty="0">
                <a:solidFill>
                  <a:srgbClr val="64748B"/>
                </a:solidFill>
              </a:rPr>
              <a:t>Removed nulls, standardised carrier codes, corrected data types, and resolved inconsistencies.</a:t>
            </a:r>
            <a:endParaRPr lang="en-US" sz="1150" dirty="0"/>
          </a:p>
        </p:txBody>
      </p:sp>
      <p:sp>
        <p:nvSpPr>
          <p:cNvPr id="17" name="Shape 15"/>
          <p:cNvSpPr/>
          <p:nvPr/>
        </p:nvSpPr>
        <p:spPr>
          <a:xfrm>
            <a:off x="365760" y="3611880"/>
            <a:ext cx="8412480" cy="107899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8" name="Shape 16"/>
          <p:cNvSpPr/>
          <p:nvPr/>
        </p:nvSpPr>
        <p:spPr>
          <a:xfrm>
            <a:off x="365760" y="3611880"/>
            <a:ext cx="73152" cy="1078992"/>
          </a:xfrm>
          <a:prstGeom prst="rect">
            <a:avLst/>
          </a:prstGeom>
          <a:solidFill>
            <a:srgbClr val="F9A825"/>
          </a:solidFill>
          <a:ln w="12700">
            <a:solidFill>
              <a:srgbClr val="F9A825"/>
            </a:solidFill>
            <a:prstDash val="solid"/>
          </a:ln>
        </p:spPr>
      </p:sp>
      <p:sp>
        <p:nvSpPr>
          <p:cNvPr id="19" name="Shape 17"/>
          <p:cNvSpPr/>
          <p:nvPr/>
        </p:nvSpPr>
        <p:spPr>
          <a:xfrm>
            <a:off x="594360" y="3886200"/>
            <a:ext cx="502920" cy="502920"/>
          </a:xfrm>
          <a:prstGeom prst="ellipse">
            <a:avLst/>
          </a:prstGeom>
          <a:solidFill>
            <a:srgbClr val="F9A825"/>
          </a:solidFill>
          <a:ln w="12700">
            <a:solidFill>
              <a:srgbClr val="F9A825"/>
            </a:solidFill>
            <a:prstDash val="solid"/>
          </a:ln>
        </p:spPr>
      </p:sp>
      <p:sp>
        <p:nvSpPr>
          <p:cNvPr id="20" name="Text 18"/>
          <p:cNvSpPr/>
          <p:nvPr/>
        </p:nvSpPr>
        <p:spPr>
          <a:xfrm>
            <a:off x="594360" y="3886200"/>
            <a:ext cx="502920" cy="502920"/>
          </a:xfrm>
          <a:prstGeom prst="rect">
            <a:avLst/>
          </a:prstGeom>
          <a:noFill/>
          <a:ln/>
        </p:spPr>
        <p:txBody>
          <a:bodyPr wrap="square" rtlCol="0" anchor="ctr"/>
          <a:lstStyle/>
          <a:p>
            <a:pPr marL="0" indent="0" algn="ctr">
              <a:buNone/>
            </a:pPr>
            <a:r>
              <a:rPr lang="en-US" sz="1000" b="1" dirty="0">
                <a:solidFill>
                  <a:srgbClr val="FFFFFF"/>
                </a:solidFill>
              </a:rPr>
              <a:t>03</a:t>
            </a:r>
            <a:endParaRPr lang="en-US" sz="1000" dirty="0"/>
          </a:p>
        </p:txBody>
      </p:sp>
      <p:sp>
        <p:nvSpPr>
          <p:cNvPr id="21" name="Text 19"/>
          <p:cNvSpPr/>
          <p:nvPr/>
        </p:nvSpPr>
        <p:spPr>
          <a:xfrm>
            <a:off x="1234440" y="3685032"/>
            <a:ext cx="7223760" cy="365760"/>
          </a:xfrm>
          <a:prstGeom prst="rect">
            <a:avLst/>
          </a:prstGeom>
          <a:noFill/>
          <a:ln/>
        </p:spPr>
        <p:txBody>
          <a:bodyPr wrap="square" rtlCol="0" anchor="ctr"/>
          <a:lstStyle/>
          <a:p>
            <a:pPr marL="0" indent="0">
              <a:buNone/>
            </a:pPr>
            <a:r>
              <a:rPr lang="en-US" sz="1350" b="1" dirty="0">
                <a:solidFill>
                  <a:srgbClr val="1E293B"/>
                </a:solidFill>
              </a:rPr>
              <a:t>VLOOKUP &amp; Joins</a:t>
            </a:r>
            <a:endParaRPr lang="en-US" sz="1350" dirty="0"/>
          </a:p>
        </p:txBody>
      </p:sp>
      <p:sp>
        <p:nvSpPr>
          <p:cNvPr id="22" name="Text 20"/>
          <p:cNvSpPr/>
          <p:nvPr/>
        </p:nvSpPr>
        <p:spPr>
          <a:xfrm>
            <a:off x="1234440" y="4069080"/>
            <a:ext cx="7223760" cy="548640"/>
          </a:xfrm>
          <a:prstGeom prst="rect">
            <a:avLst/>
          </a:prstGeom>
          <a:noFill/>
          <a:ln/>
        </p:spPr>
        <p:txBody>
          <a:bodyPr wrap="square" rtlCol="0" anchor="ctr"/>
          <a:lstStyle/>
          <a:p>
            <a:pPr marL="0" indent="0">
              <a:buNone/>
            </a:pPr>
            <a:r>
              <a:rPr lang="en-US" sz="1150" dirty="0">
                <a:solidFill>
                  <a:srgbClr val="64748B"/>
                </a:solidFill>
              </a:rPr>
              <a:t>Used VLOOKUP in Excel and SQL JOINs to enrich the dataset with carrier metadata and route details.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0"/>
            <a:ext cx="164592" cy="914400"/>
          </a:xfrm>
          <a:prstGeom prst="rect">
            <a:avLst/>
          </a:prstGeom>
          <a:solidFill>
            <a:srgbClr val="F9A825"/>
          </a:solidFill>
          <a:ln w="12700">
            <a:solidFill>
              <a:srgbClr val="F9A825"/>
            </a:solidFill>
            <a:prstDash val="solid"/>
          </a:ln>
        </p:spPr>
      </p:sp>
      <p:sp>
        <p:nvSpPr>
          <p:cNvPr id="4" name="Text 2"/>
          <p:cNvSpPr/>
          <p:nvPr/>
        </p:nvSpPr>
        <p:spPr>
          <a:xfrm>
            <a:off x="320040" y="0"/>
            <a:ext cx="8229600" cy="914400"/>
          </a:xfrm>
          <a:prstGeom prst="rect">
            <a:avLst/>
          </a:prstGeom>
          <a:noFill/>
          <a:ln/>
        </p:spPr>
        <p:txBody>
          <a:bodyPr wrap="square" rtlCol="0" anchor="ctr"/>
          <a:lstStyle/>
          <a:p>
            <a:pPr marL="0" indent="0">
              <a:buNone/>
            </a:pPr>
            <a:r>
              <a:rPr lang="en-US" sz="2600" b="1" dirty="0">
                <a:solidFill>
                  <a:srgbClr val="FFFFFF"/>
                </a:solidFill>
              </a:rPr>
              <a:t>Key Calculations</a:t>
            </a:r>
            <a:endParaRPr lang="en-US" sz="2600" dirty="0"/>
          </a:p>
        </p:txBody>
      </p:sp>
      <p:sp>
        <p:nvSpPr>
          <p:cNvPr id="5" name="Shape 3"/>
          <p:cNvSpPr/>
          <p:nvPr/>
        </p:nvSpPr>
        <p:spPr>
          <a:xfrm>
            <a:off x="365760" y="1005840"/>
            <a:ext cx="8412480" cy="1234440"/>
          </a:xfrm>
          <a:prstGeom prst="rect">
            <a:avLst/>
          </a:prstGeom>
          <a:solidFill>
            <a:srgbClr val="0D1B3E"/>
          </a:solidFill>
          <a:ln w="12700">
            <a:solidFill>
              <a:srgbClr val="0D1B3E"/>
            </a:solidFill>
            <a:prstDash val="solid"/>
          </a:ln>
          <a:effectLst>
            <a:outerShdw blurRad="101600" dist="38100" dir="8100000" algn="bl" rotWithShape="0">
              <a:srgbClr val="000000">
                <a:alpha val="12000"/>
              </a:srgbClr>
            </a:outerShdw>
          </a:effectLst>
        </p:spPr>
      </p:sp>
      <p:sp>
        <p:nvSpPr>
          <p:cNvPr id="6" name="Text 4"/>
          <p:cNvSpPr/>
          <p:nvPr/>
        </p:nvSpPr>
        <p:spPr>
          <a:xfrm>
            <a:off x="548640" y="1051560"/>
            <a:ext cx="4572000" cy="411480"/>
          </a:xfrm>
          <a:prstGeom prst="rect">
            <a:avLst/>
          </a:prstGeom>
          <a:noFill/>
          <a:ln/>
        </p:spPr>
        <p:txBody>
          <a:bodyPr wrap="square" rtlCol="0" anchor="ctr"/>
          <a:lstStyle/>
          <a:p>
            <a:pPr marL="0" indent="0">
              <a:buNone/>
            </a:pPr>
            <a:r>
              <a:rPr lang="en-US" sz="1200" b="1" dirty="0">
                <a:solidFill>
                  <a:srgbClr val="F9A825"/>
                </a:solidFill>
              </a:rPr>
              <a:t>Core KPI — Load Factor</a:t>
            </a:r>
            <a:endParaRPr lang="en-US" sz="1200" dirty="0"/>
          </a:p>
        </p:txBody>
      </p:sp>
      <p:sp>
        <p:nvSpPr>
          <p:cNvPr id="7" name="Text 5"/>
          <p:cNvSpPr/>
          <p:nvPr/>
        </p:nvSpPr>
        <p:spPr>
          <a:xfrm>
            <a:off x="548640" y="1463040"/>
            <a:ext cx="5029200" cy="411480"/>
          </a:xfrm>
          <a:prstGeom prst="rect">
            <a:avLst/>
          </a:prstGeom>
          <a:noFill/>
          <a:ln/>
        </p:spPr>
        <p:txBody>
          <a:bodyPr wrap="square"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Transported Passengers  ÷  Available Seats  ×  100</a:t>
            </a:r>
            <a:endParaRPr lang="en-US" sz="1500" dirty="0"/>
          </a:p>
        </p:txBody>
      </p:sp>
      <p:sp>
        <p:nvSpPr>
          <p:cNvPr id="8" name="Text 6"/>
          <p:cNvSpPr/>
          <p:nvPr/>
        </p:nvSpPr>
        <p:spPr>
          <a:xfrm>
            <a:off x="548640" y="1874520"/>
            <a:ext cx="5029200" cy="274320"/>
          </a:xfrm>
          <a:prstGeom prst="rect">
            <a:avLst/>
          </a:prstGeom>
          <a:noFill/>
          <a:ln/>
        </p:spPr>
        <p:txBody>
          <a:bodyPr wrap="square" rtlCol="0" anchor="ctr"/>
          <a:lstStyle/>
          <a:p>
            <a:pPr marL="0" indent="0">
              <a:buNone/>
            </a:pPr>
            <a:r>
              <a:rPr lang="en-US" sz="1050" dirty="0">
                <a:solidFill>
                  <a:srgbClr val="42A5F5"/>
                </a:solidFill>
              </a:rPr>
              <a:t>Values &gt;80% indicate strong utilisation efficiency</a:t>
            </a:r>
            <a:endParaRPr lang="en-US" sz="1050" dirty="0"/>
          </a:p>
        </p:txBody>
      </p:sp>
      <p:sp>
        <p:nvSpPr>
          <p:cNvPr id="9" name="Shape 7"/>
          <p:cNvSpPr/>
          <p:nvPr/>
        </p:nvSpPr>
        <p:spPr>
          <a:xfrm>
            <a:off x="7223760" y="1078992"/>
            <a:ext cx="1234440" cy="1097280"/>
          </a:xfrm>
          <a:prstGeom prst="ellipse">
            <a:avLst/>
          </a:prstGeom>
          <a:solidFill>
            <a:srgbClr val="F9A825"/>
          </a:solidFill>
          <a:ln w="12700">
            <a:solidFill>
              <a:srgbClr val="F9A825"/>
            </a:solidFill>
            <a:prstDash val="solid"/>
          </a:ln>
        </p:spPr>
      </p:sp>
      <p:sp>
        <p:nvSpPr>
          <p:cNvPr id="10" name="Text 8"/>
          <p:cNvSpPr/>
          <p:nvPr/>
        </p:nvSpPr>
        <p:spPr>
          <a:xfrm>
            <a:off x="7223760" y="1078992"/>
            <a:ext cx="1234440" cy="1097280"/>
          </a:xfrm>
          <a:prstGeom prst="rect">
            <a:avLst/>
          </a:prstGeom>
          <a:noFill/>
          <a:ln/>
        </p:spPr>
        <p:txBody>
          <a:bodyPr wrap="square" rtlCol="0" anchor="ctr"/>
          <a:lstStyle/>
          <a:p>
            <a:pPr marL="0" indent="0" algn="ctr">
              <a:buNone/>
            </a:pPr>
            <a:r>
              <a:rPr lang="en-US" sz="1800" b="1" dirty="0">
                <a:solidFill>
                  <a:srgbClr val="0D1B3E"/>
                </a:solidFill>
              </a:rPr>
              <a:t>80%+</a:t>
            </a:r>
            <a:endParaRPr lang="en-US" sz="1800" dirty="0"/>
          </a:p>
        </p:txBody>
      </p:sp>
      <p:sp>
        <p:nvSpPr>
          <p:cNvPr id="11" name="Shape 9"/>
          <p:cNvSpPr/>
          <p:nvPr/>
        </p:nvSpPr>
        <p:spPr>
          <a:xfrm>
            <a:off x="365760" y="2423160"/>
            <a:ext cx="2011680" cy="23774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2" name="Shape 10"/>
          <p:cNvSpPr/>
          <p:nvPr/>
        </p:nvSpPr>
        <p:spPr>
          <a:xfrm>
            <a:off x="365760" y="2423160"/>
            <a:ext cx="2011680" cy="73152"/>
          </a:xfrm>
          <a:prstGeom prst="rect">
            <a:avLst/>
          </a:prstGeom>
          <a:solidFill>
            <a:srgbClr val="1565C0"/>
          </a:solidFill>
          <a:ln w="12700">
            <a:solidFill>
              <a:srgbClr val="1565C0"/>
            </a:solidFill>
            <a:prstDash val="solid"/>
          </a:ln>
        </p:spPr>
      </p:sp>
      <p:sp>
        <p:nvSpPr>
          <p:cNvPr id="13" name="Shape 11"/>
          <p:cNvSpPr/>
          <p:nvPr/>
        </p:nvSpPr>
        <p:spPr>
          <a:xfrm>
            <a:off x="1005840" y="2606040"/>
            <a:ext cx="731520" cy="731520"/>
          </a:xfrm>
          <a:prstGeom prst="ellipse">
            <a:avLst/>
          </a:prstGeom>
          <a:solidFill>
            <a:srgbClr val="1565C0"/>
          </a:solidFill>
          <a:ln w="12700">
            <a:solidFill>
              <a:srgbClr val="1565C0"/>
            </a:solidFill>
            <a:prstDash val="solid"/>
          </a:ln>
        </p:spPr>
      </p:sp>
      <p:sp>
        <p:nvSpPr>
          <p:cNvPr id="14" name="Text 12"/>
          <p:cNvSpPr/>
          <p:nvPr/>
        </p:nvSpPr>
        <p:spPr>
          <a:xfrm>
            <a:off x="1005840" y="2606040"/>
            <a:ext cx="731520" cy="731520"/>
          </a:xfrm>
          <a:prstGeom prst="rect">
            <a:avLst/>
          </a:prstGeom>
          <a:noFill/>
          <a:ln/>
        </p:spPr>
        <p:txBody>
          <a:bodyPr wrap="square" rtlCol="0" anchor="ctr"/>
          <a:lstStyle/>
          <a:p>
            <a:pPr marL="0" indent="0" algn="ctr">
              <a:buNone/>
            </a:pPr>
            <a:r>
              <a:rPr lang="en-US" sz="1400" b="1" dirty="0">
                <a:solidFill>
                  <a:srgbClr val="FFFFFF"/>
                </a:solidFill>
              </a:rPr>
              <a:t>01</a:t>
            </a:r>
            <a:endParaRPr lang="en-US" sz="1400" dirty="0"/>
          </a:p>
        </p:txBody>
      </p:sp>
      <p:sp>
        <p:nvSpPr>
          <p:cNvPr id="15" name="Text 13"/>
          <p:cNvSpPr/>
          <p:nvPr/>
        </p:nvSpPr>
        <p:spPr>
          <a:xfrm>
            <a:off x="457200" y="3429000"/>
            <a:ext cx="1828800" cy="411480"/>
          </a:xfrm>
          <a:prstGeom prst="rect">
            <a:avLst/>
          </a:prstGeom>
          <a:noFill/>
          <a:ln/>
        </p:spPr>
        <p:txBody>
          <a:bodyPr wrap="square" rtlCol="0" anchor="ctr"/>
          <a:lstStyle/>
          <a:p>
            <a:pPr marL="0" indent="0" algn="ctr">
              <a:buNone/>
            </a:pPr>
            <a:r>
              <a:rPr lang="en-US" sz="1050" b="1" dirty="0">
                <a:solidFill>
                  <a:srgbClr val="1E293B"/>
                </a:solidFill>
              </a:rPr>
              <a:t>Daily Granularity</a:t>
            </a:r>
            <a:endParaRPr lang="en-US" sz="1050" dirty="0"/>
          </a:p>
        </p:txBody>
      </p:sp>
      <p:sp>
        <p:nvSpPr>
          <p:cNvPr id="16" name="Text 14"/>
          <p:cNvSpPr/>
          <p:nvPr/>
        </p:nvSpPr>
        <p:spPr>
          <a:xfrm>
            <a:off x="457200" y="3858768"/>
            <a:ext cx="1828800" cy="731520"/>
          </a:xfrm>
          <a:prstGeom prst="rect">
            <a:avLst/>
          </a:prstGeom>
          <a:noFill/>
          <a:ln/>
        </p:spPr>
        <p:txBody>
          <a:bodyPr wrap="square" rtlCol="0" anchor="ctr"/>
          <a:lstStyle/>
          <a:p>
            <a:pPr marL="0" indent="0" algn="ctr">
              <a:lnSpc>
                <a:spcPct val="120000"/>
              </a:lnSpc>
              <a:buNone/>
            </a:pPr>
            <a:r>
              <a:rPr lang="en-US" sz="950" dirty="0">
                <a:solidFill>
                  <a:srgbClr val="64748B"/>
                </a:solidFill>
              </a:rPr>
              <a:t>Base-level flight &amp; passenger counts per day</a:t>
            </a:r>
            <a:endParaRPr lang="en-US" sz="950" dirty="0"/>
          </a:p>
        </p:txBody>
      </p:sp>
      <p:sp>
        <p:nvSpPr>
          <p:cNvPr id="17" name="Shape 15"/>
          <p:cNvSpPr/>
          <p:nvPr/>
        </p:nvSpPr>
        <p:spPr>
          <a:xfrm>
            <a:off x="2514600" y="2423160"/>
            <a:ext cx="2011680" cy="23774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8" name="Shape 16"/>
          <p:cNvSpPr/>
          <p:nvPr/>
        </p:nvSpPr>
        <p:spPr>
          <a:xfrm>
            <a:off x="2514600" y="2423160"/>
            <a:ext cx="2011680" cy="73152"/>
          </a:xfrm>
          <a:prstGeom prst="rect">
            <a:avLst/>
          </a:prstGeom>
          <a:solidFill>
            <a:srgbClr val="00ACC1"/>
          </a:solidFill>
          <a:ln w="12700">
            <a:solidFill>
              <a:srgbClr val="00ACC1"/>
            </a:solidFill>
            <a:prstDash val="solid"/>
          </a:ln>
        </p:spPr>
      </p:sp>
      <p:sp>
        <p:nvSpPr>
          <p:cNvPr id="19" name="Shape 17"/>
          <p:cNvSpPr/>
          <p:nvPr/>
        </p:nvSpPr>
        <p:spPr>
          <a:xfrm>
            <a:off x="3154680" y="2606040"/>
            <a:ext cx="731520" cy="731520"/>
          </a:xfrm>
          <a:prstGeom prst="ellipse">
            <a:avLst/>
          </a:prstGeom>
          <a:solidFill>
            <a:srgbClr val="00ACC1"/>
          </a:solidFill>
          <a:ln w="12700">
            <a:solidFill>
              <a:srgbClr val="00ACC1"/>
            </a:solidFill>
            <a:prstDash val="solid"/>
          </a:ln>
        </p:spPr>
      </p:sp>
      <p:sp>
        <p:nvSpPr>
          <p:cNvPr id="20" name="Text 18"/>
          <p:cNvSpPr/>
          <p:nvPr/>
        </p:nvSpPr>
        <p:spPr>
          <a:xfrm>
            <a:off x="3154680" y="2606040"/>
            <a:ext cx="731520" cy="731520"/>
          </a:xfrm>
          <a:prstGeom prst="rect">
            <a:avLst/>
          </a:prstGeom>
          <a:noFill/>
          <a:ln/>
        </p:spPr>
        <p:txBody>
          <a:bodyPr wrap="square" rtlCol="0" anchor="ctr"/>
          <a:lstStyle/>
          <a:p>
            <a:pPr marL="0" indent="0" algn="ctr">
              <a:buNone/>
            </a:pPr>
            <a:r>
              <a:rPr lang="en-US" sz="1400" b="1" dirty="0">
                <a:solidFill>
                  <a:srgbClr val="FFFFFF"/>
                </a:solidFill>
              </a:rPr>
              <a:t>02</a:t>
            </a:r>
            <a:endParaRPr lang="en-US" sz="1400" dirty="0"/>
          </a:p>
        </p:txBody>
      </p:sp>
      <p:sp>
        <p:nvSpPr>
          <p:cNvPr id="21" name="Text 19"/>
          <p:cNvSpPr/>
          <p:nvPr/>
        </p:nvSpPr>
        <p:spPr>
          <a:xfrm>
            <a:off x="2606040" y="3429000"/>
            <a:ext cx="1828800" cy="411480"/>
          </a:xfrm>
          <a:prstGeom prst="rect">
            <a:avLst/>
          </a:prstGeom>
          <a:noFill/>
          <a:ln/>
        </p:spPr>
        <p:txBody>
          <a:bodyPr wrap="square" rtlCol="0" anchor="ctr"/>
          <a:lstStyle/>
          <a:p>
            <a:pPr marL="0" indent="0" algn="ctr">
              <a:buNone/>
            </a:pPr>
            <a:r>
              <a:rPr lang="en-US" sz="1050" b="1" dirty="0">
                <a:solidFill>
                  <a:srgbClr val="1E293B"/>
                </a:solidFill>
              </a:rPr>
              <a:t>Monthly Aggregation</a:t>
            </a:r>
            <a:endParaRPr lang="en-US" sz="1050" dirty="0"/>
          </a:p>
        </p:txBody>
      </p:sp>
      <p:sp>
        <p:nvSpPr>
          <p:cNvPr id="22" name="Text 20"/>
          <p:cNvSpPr/>
          <p:nvPr/>
        </p:nvSpPr>
        <p:spPr>
          <a:xfrm>
            <a:off x="2606040" y="3858768"/>
            <a:ext cx="1828800" cy="731520"/>
          </a:xfrm>
          <a:prstGeom prst="rect">
            <a:avLst/>
          </a:prstGeom>
          <a:noFill/>
          <a:ln/>
        </p:spPr>
        <p:txBody>
          <a:bodyPr wrap="square" rtlCol="0" anchor="ctr"/>
          <a:lstStyle/>
          <a:p>
            <a:pPr marL="0" indent="0" algn="ctr">
              <a:lnSpc>
                <a:spcPct val="120000"/>
              </a:lnSpc>
              <a:buNone/>
            </a:pPr>
            <a:r>
              <a:rPr lang="en-US" sz="950" dirty="0">
                <a:solidFill>
                  <a:srgbClr val="64748B"/>
                </a:solidFill>
              </a:rPr>
              <a:t>Summed totals with financial month mapping</a:t>
            </a:r>
            <a:endParaRPr lang="en-US" sz="950" dirty="0"/>
          </a:p>
        </p:txBody>
      </p:sp>
      <p:sp>
        <p:nvSpPr>
          <p:cNvPr id="23" name="Shape 21"/>
          <p:cNvSpPr/>
          <p:nvPr/>
        </p:nvSpPr>
        <p:spPr>
          <a:xfrm>
            <a:off x="4663440" y="2423160"/>
            <a:ext cx="2011680" cy="23774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4" name="Shape 22"/>
          <p:cNvSpPr/>
          <p:nvPr/>
        </p:nvSpPr>
        <p:spPr>
          <a:xfrm>
            <a:off x="4663440" y="2423160"/>
            <a:ext cx="2011680" cy="73152"/>
          </a:xfrm>
          <a:prstGeom prst="rect">
            <a:avLst/>
          </a:prstGeom>
          <a:solidFill>
            <a:srgbClr val="00897B"/>
          </a:solidFill>
          <a:ln w="12700">
            <a:solidFill>
              <a:srgbClr val="00897B"/>
            </a:solidFill>
            <a:prstDash val="solid"/>
          </a:ln>
        </p:spPr>
      </p:sp>
      <p:sp>
        <p:nvSpPr>
          <p:cNvPr id="25" name="Shape 23"/>
          <p:cNvSpPr/>
          <p:nvPr/>
        </p:nvSpPr>
        <p:spPr>
          <a:xfrm>
            <a:off x="5303520" y="2606040"/>
            <a:ext cx="731520" cy="731520"/>
          </a:xfrm>
          <a:prstGeom prst="ellipse">
            <a:avLst/>
          </a:prstGeom>
          <a:solidFill>
            <a:srgbClr val="00897B"/>
          </a:solidFill>
          <a:ln w="12700">
            <a:solidFill>
              <a:srgbClr val="00897B"/>
            </a:solidFill>
            <a:prstDash val="solid"/>
          </a:ln>
        </p:spPr>
      </p:sp>
      <p:sp>
        <p:nvSpPr>
          <p:cNvPr id="26" name="Text 24"/>
          <p:cNvSpPr/>
          <p:nvPr/>
        </p:nvSpPr>
        <p:spPr>
          <a:xfrm>
            <a:off x="5303520" y="2606040"/>
            <a:ext cx="731520" cy="731520"/>
          </a:xfrm>
          <a:prstGeom prst="rect">
            <a:avLst/>
          </a:prstGeom>
          <a:noFill/>
          <a:ln/>
        </p:spPr>
        <p:txBody>
          <a:bodyPr wrap="square" rtlCol="0" anchor="ctr"/>
          <a:lstStyle/>
          <a:p>
            <a:pPr marL="0" indent="0" algn="ctr">
              <a:buNone/>
            </a:pPr>
            <a:r>
              <a:rPr lang="en-US" sz="1400" b="1" dirty="0">
                <a:solidFill>
                  <a:srgbClr val="FFFFFF"/>
                </a:solidFill>
              </a:rPr>
              <a:t>03</a:t>
            </a:r>
            <a:endParaRPr lang="en-US" sz="1400" dirty="0"/>
          </a:p>
        </p:txBody>
      </p:sp>
      <p:sp>
        <p:nvSpPr>
          <p:cNvPr id="27" name="Text 25"/>
          <p:cNvSpPr/>
          <p:nvPr/>
        </p:nvSpPr>
        <p:spPr>
          <a:xfrm>
            <a:off x="4754880" y="3429000"/>
            <a:ext cx="1828800" cy="411480"/>
          </a:xfrm>
          <a:prstGeom prst="rect">
            <a:avLst/>
          </a:prstGeom>
          <a:noFill/>
          <a:ln/>
        </p:spPr>
        <p:txBody>
          <a:bodyPr wrap="square" rtlCol="0" anchor="ctr"/>
          <a:lstStyle/>
          <a:p>
            <a:pPr marL="0" indent="0" algn="ctr">
              <a:buNone/>
            </a:pPr>
            <a:r>
              <a:rPr lang="en-US" sz="1050" b="1" dirty="0">
                <a:solidFill>
                  <a:srgbClr val="1E293B"/>
                </a:solidFill>
              </a:rPr>
              <a:t>Quarterly Rollup</a:t>
            </a:r>
            <a:endParaRPr lang="en-US" sz="1050" dirty="0"/>
          </a:p>
        </p:txBody>
      </p:sp>
      <p:sp>
        <p:nvSpPr>
          <p:cNvPr id="28" name="Text 26"/>
          <p:cNvSpPr/>
          <p:nvPr/>
        </p:nvSpPr>
        <p:spPr>
          <a:xfrm>
            <a:off x="4754880" y="3858768"/>
            <a:ext cx="1828800" cy="731520"/>
          </a:xfrm>
          <a:prstGeom prst="rect">
            <a:avLst/>
          </a:prstGeom>
          <a:noFill/>
          <a:ln/>
        </p:spPr>
        <p:txBody>
          <a:bodyPr wrap="square" rtlCol="0" anchor="ctr"/>
          <a:lstStyle/>
          <a:p>
            <a:pPr marL="0" indent="0" algn="ctr">
              <a:lnSpc>
                <a:spcPct val="120000"/>
              </a:lnSpc>
              <a:buNone/>
            </a:pPr>
            <a:r>
              <a:rPr lang="en-US" sz="950" dirty="0">
                <a:solidFill>
                  <a:srgbClr val="64748B"/>
                </a:solidFill>
              </a:rPr>
              <a:t>Fiscal Q1–Q4 groupings for executive reporting</a:t>
            </a:r>
            <a:endParaRPr lang="en-US" sz="950" dirty="0"/>
          </a:p>
        </p:txBody>
      </p:sp>
      <p:sp>
        <p:nvSpPr>
          <p:cNvPr id="29" name="Shape 27"/>
          <p:cNvSpPr/>
          <p:nvPr/>
        </p:nvSpPr>
        <p:spPr>
          <a:xfrm>
            <a:off x="6812280" y="2423160"/>
            <a:ext cx="2011680" cy="23774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30" name="Shape 28"/>
          <p:cNvSpPr/>
          <p:nvPr/>
        </p:nvSpPr>
        <p:spPr>
          <a:xfrm>
            <a:off x="6812280" y="2423160"/>
            <a:ext cx="2011680" cy="73152"/>
          </a:xfrm>
          <a:prstGeom prst="rect">
            <a:avLst/>
          </a:prstGeom>
          <a:solidFill>
            <a:srgbClr val="F9A825"/>
          </a:solidFill>
          <a:ln w="12700">
            <a:solidFill>
              <a:srgbClr val="F9A825"/>
            </a:solidFill>
            <a:prstDash val="solid"/>
          </a:ln>
        </p:spPr>
      </p:sp>
      <p:sp>
        <p:nvSpPr>
          <p:cNvPr id="31" name="Shape 29"/>
          <p:cNvSpPr/>
          <p:nvPr/>
        </p:nvSpPr>
        <p:spPr>
          <a:xfrm>
            <a:off x="7452360" y="2606040"/>
            <a:ext cx="731520" cy="731520"/>
          </a:xfrm>
          <a:prstGeom prst="ellipse">
            <a:avLst/>
          </a:prstGeom>
          <a:solidFill>
            <a:srgbClr val="F9A825"/>
          </a:solidFill>
          <a:ln w="12700">
            <a:solidFill>
              <a:srgbClr val="F9A825"/>
            </a:solidFill>
            <a:prstDash val="solid"/>
          </a:ln>
        </p:spPr>
      </p:sp>
      <p:sp>
        <p:nvSpPr>
          <p:cNvPr id="32" name="Text 30"/>
          <p:cNvSpPr/>
          <p:nvPr/>
        </p:nvSpPr>
        <p:spPr>
          <a:xfrm>
            <a:off x="7452360" y="2606040"/>
            <a:ext cx="731520" cy="731520"/>
          </a:xfrm>
          <a:prstGeom prst="rect">
            <a:avLst/>
          </a:prstGeom>
          <a:noFill/>
          <a:ln/>
        </p:spPr>
        <p:txBody>
          <a:bodyPr wrap="square" rtlCol="0" anchor="ctr"/>
          <a:lstStyle/>
          <a:p>
            <a:pPr marL="0" indent="0" algn="ctr">
              <a:buNone/>
            </a:pPr>
            <a:r>
              <a:rPr lang="en-US" sz="1400" b="1" dirty="0">
                <a:solidFill>
                  <a:srgbClr val="FFFFFF"/>
                </a:solidFill>
              </a:rPr>
              <a:t>04</a:t>
            </a:r>
            <a:endParaRPr lang="en-US" sz="1400" dirty="0"/>
          </a:p>
        </p:txBody>
      </p:sp>
      <p:sp>
        <p:nvSpPr>
          <p:cNvPr id="33" name="Text 31"/>
          <p:cNvSpPr/>
          <p:nvPr/>
        </p:nvSpPr>
        <p:spPr>
          <a:xfrm>
            <a:off x="6903720" y="3429000"/>
            <a:ext cx="1828800" cy="411480"/>
          </a:xfrm>
          <a:prstGeom prst="rect">
            <a:avLst/>
          </a:prstGeom>
          <a:noFill/>
          <a:ln/>
        </p:spPr>
        <p:txBody>
          <a:bodyPr wrap="square" rtlCol="0" anchor="ctr"/>
          <a:lstStyle/>
          <a:p>
            <a:pPr marL="0" indent="0" algn="ctr">
              <a:buNone/>
            </a:pPr>
            <a:r>
              <a:rPr lang="en-US" sz="1050" b="1" dirty="0">
                <a:solidFill>
                  <a:srgbClr val="1E293B"/>
                </a:solidFill>
              </a:rPr>
              <a:t>Yearly Summary</a:t>
            </a:r>
            <a:endParaRPr lang="en-US" sz="1050" dirty="0"/>
          </a:p>
        </p:txBody>
      </p:sp>
      <p:sp>
        <p:nvSpPr>
          <p:cNvPr id="34" name="Text 32"/>
          <p:cNvSpPr/>
          <p:nvPr/>
        </p:nvSpPr>
        <p:spPr>
          <a:xfrm>
            <a:off x="6903720" y="3858768"/>
            <a:ext cx="1828800" cy="731520"/>
          </a:xfrm>
          <a:prstGeom prst="rect">
            <a:avLst/>
          </a:prstGeom>
          <a:noFill/>
          <a:ln/>
        </p:spPr>
        <p:txBody>
          <a:bodyPr wrap="square" rtlCol="0" anchor="ctr"/>
          <a:lstStyle/>
          <a:p>
            <a:pPr marL="0" indent="0" algn="ctr">
              <a:lnSpc>
                <a:spcPct val="120000"/>
              </a:lnSpc>
              <a:buNone/>
            </a:pPr>
            <a:r>
              <a:rPr lang="en-US" sz="950" dirty="0">
                <a:solidFill>
                  <a:srgbClr val="64748B"/>
                </a:solidFill>
              </a:rPr>
              <a:t>Annual benchmarks &amp; YoY comparisons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0"/>
            <a:ext cx="164592" cy="914400"/>
          </a:xfrm>
          <a:prstGeom prst="rect">
            <a:avLst/>
          </a:prstGeom>
          <a:solidFill>
            <a:srgbClr val="F9A825"/>
          </a:solidFill>
          <a:ln w="12700">
            <a:solidFill>
              <a:srgbClr val="F9A825"/>
            </a:solidFill>
            <a:prstDash val="solid"/>
          </a:ln>
        </p:spPr>
      </p:sp>
      <p:sp>
        <p:nvSpPr>
          <p:cNvPr id="4" name="Text 2"/>
          <p:cNvSpPr/>
          <p:nvPr/>
        </p:nvSpPr>
        <p:spPr>
          <a:xfrm>
            <a:off x="320040" y="0"/>
            <a:ext cx="8229600" cy="914400"/>
          </a:xfrm>
          <a:prstGeom prst="rect">
            <a:avLst/>
          </a:prstGeom>
          <a:noFill/>
          <a:ln/>
        </p:spPr>
        <p:txBody>
          <a:bodyPr wrap="square" rtlCol="0" anchor="ctr"/>
          <a:lstStyle/>
          <a:p>
            <a:pPr marL="0" indent="0">
              <a:buNone/>
            </a:pPr>
            <a:r>
              <a:rPr lang="en-US" sz="2600" b="1" dirty="0">
                <a:solidFill>
                  <a:srgbClr val="FFFFFF"/>
                </a:solidFill>
              </a:rPr>
              <a:t>SQL Work</a:t>
            </a:r>
            <a:endParaRPr lang="en-US" sz="2600" dirty="0"/>
          </a:p>
        </p:txBody>
      </p:sp>
      <p:sp>
        <p:nvSpPr>
          <p:cNvPr id="5" name="Shape 3"/>
          <p:cNvSpPr/>
          <p:nvPr/>
        </p:nvSpPr>
        <p:spPr>
          <a:xfrm>
            <a:off x="365760" y="1005840"/>
            <a:ext cx="4663440" cy="3840480"/>
          </a:xfrm>
          <a:prstGeom prst="rect">
            <a:avLst/>
          </a:prstGeom>
          <a:solidFill>
            <a:srgbClr val="1E293B"/>
          </a:solidFill>
          <a:ln w="12700">
            <a:solidFill>
              <a:srgbClr val="334155"/>
            </a:solidFill>
            <a:prstDash val="solid"/>
          </a:ln>
          <a:effectLst>
            <a:outerShdw blurRad="101600" dist="38100" dir="8100000" algn="bl" rotWithShape="0">
              <a:srgbClr val="000000">
                <a:alpha val="12000"/>
              </a:srgbClr>
            </a:outerShdw>
          </a:effectLst>
        </p:spPr>
      </p:sp>
      <p:sp>
        <p:nvSpPr>
          <p:cNvPr id="6" name="Text 4"/>
          <p:cNvSpPr/>
          <p:nvPr/>
        </p:nvSpPr>
        <p:spPr>
          <a:xfrm>
            <a:off x="502920" y="1051560"/>
            <a:ext cx="4389120" cy="320040"/>
          </a:xfrm>
          <a:prstGeom prst="rect">
            <a:avLst/>
          </a:prstGeom>
          <a:noFill/>
          <a:ln/>
        </p:spPr>
        <p:txBody>
          <a:bodyPr wrap="square" rtlCol="0" anchor="ctr"/>
          <a:lstStyle/>
          <a:p>
            <a:pPr marL="0" indent="0">
              <a:buNone/>
            </a:pPr>
            <a:r>
              <a:rPr lang="en-US" sz="1000" b="1" dirty="0">
                <a:solidFill>
                  <a:srgbClr val="42A5F5"/>
                </a:solidFill>
              </a:rPr>
              <a:t>Sample Query</a:t>
            </a:r>
            <a:endParaRPr lang="en-US" sz="1000" dirty="0"/>
          </a:p>
        </p:txBody>
      </p:sp>
      <p:sp>
        <p:nvSpPr>
          <p:cNvPr id="7" name="Text 5"/>
          <p:cNvSpPr/>
          <p:nvPr/>
        </p:nvSpPr>
        <p:spPr>
          <a:xfrm>
            <a:off x="457200" y="1417320"/>
            <a:ext cx="4480560" cy="3291840"/>
          </a:xfrm>
          <a:prstGeom prst="rect">
            <a:avLst/>
          </a:prstGeom>
          <a:noFill/>
          <a:ln/>
        </p:spPr>
        <p:txBody>
          <a:bodyPr wrap="square" rtlCol="0" anchor="t"/>
          <a:lstStyle/>
          <a:p>
            <a:pPr marL="0" indent="0">
              <a:buNone/>
            </a:pPr>
            <a:r>
              <a:rPr lang="en-US" sz="1000" dirty="0">
                <a:solidFill>
                  <a:srgbClr val="93C5FD"/>
                </a:solidFill>
                <a:latin typeface="Courier New" pitchFamily="34" charset="0"/>
                <a:ea typeface="Courier New" pitchFamily="34" charset="-122"/>
                <a:cs typeface="Courier New" pitchFamily="34" charset="-120"/>
              </a:rPr>
              <a:t>SELECT </a:t>
            </a:r>
            <a:endParaRPr lang="en-US" sz="1000" dirty="0"/>
          </a:p>
          <a:p>
            <a:pPr marL="0" indent="0">
              <a:buNone/>
            </a:pPr>
            <a:r>
              <a:rPr lang="en-US" sz="1000" dirty="0">
                <a:solidFill>
                  <a:srgbClr val="93C5FD"/>
                </a:solidFill>
                <a:latin typeface="Courier New" pitchFamily="34" charset="0"/>
                <a:ea typeface="Courier New" pitchFamily="34" charset="-122"/>
                <a:cs typeface="Courier New" pitchFamily="34" charset="-120"/>
              </a:rPr>
              <a:t>  CarrierName,</a:t>
            </a:r>
            <a:endParaRPr lang="en-US" sz="1000" dirty="0"/>
          </a:p>
          <a:p>
            <a:pPr marL="0" indent="0">
              <a:buNone/>
            </a:pPr>
            <a:r>
              <a:rPr lang="en-US" sz="1000" dirty="0">
                <a:solidFill>
                  <a:srgbClr val="93C5FD"/>
                </a:solidFill>
                <a:latin typeface="Courier New" pitchFamily="34" charset="0"/>
                <a:ea typeface="Courier New" pitchFamily="34" charset="-122"/>
                <a:cs typeface="Courier New" pitchFamily="34" charset="-120"/>
              </a:rPr>
              <a:t>  SUM(Passengers)  AS TotalPassengers,</a:t>
            </a:r>
            <a:endParaRPr lang="en-US" sz="1000" dirty="0"/>
          </a:p>
          <a:p>
            <a:pPr marL="0" indent="0">
              <a:buNone/>
            </a:pPr>
            <a:r>
              <a:rPr lang="en-US" sz="1000" dirty="0">
                <a:solidFill>
                  <a:srgbClr val="93C5FD"/>
                </a:solidFill>
                <a:latin typeface="Courier New" pitchFamily="34" charset="0"/>
                <a:ea typeface="Courier New" pitchFamily="34" charset="-122"/>
                <a:cs typeface="Courier New" pitchFamily="34" charset="-120"/>
              </a:rPr>
              <a:t>  SUM(Seats)       AS TotalSeats,</a:t>
            </a:r>
            <a:endParaRPr lang="en-US" sz="1000" dirty="0"/>
          </a:p>
          <a:p>
            <a:pPr marL="0" indent="0">
              <a:buNone/>
            </a:pPr>
            <a:r>
              <a:rPr lang="en-US" sz="1000" dirty="0">
                <a:solidFill>
                  <a:srgbClr val="93C5FD"/>
                </a:solidFill>
                <a:latin typeface="Courier New" pitchFamily="34" charset="0"/>
                <a:ea typeface="Courier New" pitchFamily="34" charset="-122"/>
                <a:cs typeface="Courier New" pitchFamily="34" charset="-120"/>
              </a:rPr>
              <a:t>  ROUND(SUM(Passengers)*100.0</a:t>
            </a:r>
            <a:endParaRPr lang="en-US" sz="1000" dirty="0"/>
          </a:p>
          <a:p>
            <a:pPr marL="0" indent="0">
              <a:buNone/>
            </a:pPr>
            <a:r>
              <a:rPr lang="en-US" sz="1000" dirty="0">
                <a:solidFill>
                  <a:srgbClr val="93C5FD"/>
                </a:solidFill>
                <a:latin typeface="Courier New" pitchFamily="34" charset="0"/>
                <a:ea typeface="Courier New" pitchFamily="34" charset="-122"/>
                <a:cs typeface="Courier New" pitchFamily="34" charset="-120"/>
              </a:rPr>
              <a:t>    / NULLIF(SUM(Seats),0), 2)</a:t>
            </a:r>
            <a:endParaRPr lang="en-US" sz="1000" dirty="0"/>
          </a:p>
          <a:p>
            <a:pPr marL="0" indent="0">
              <a:buNone/>
            </a:pPr>
            <a:r>
              <a:rPr lang="en-US" sz="1000" dirty="0">
                <a:solidFill>
                  <a:srgbClr val="93C5FD"/>
                </a:solidFill>
                <a:latin typeface="Courier New" pitchFamily="34" charset="0"/>
                <a:ea typeface="Courier New" pitchFamily="34" charset="-122"/>
                <a:cs typeface="Courier New" pitchFamily="34" charset="-120"/>
              </a:rPr>
              <a:t>    AS LoadFactor</a:t>
            </a:r>
            <a:endParaRPr lang="en-US" sz="1000" dirty="0"/>
          </a:p>
          <a:p>
            <a:pPr marL="0" indent="0">
              <a:buNone/>
            </a:pPr>
            <a:r>
              <a:rPr lang="en-US" sz="1000" dirty="0">
                <a:solidFill>
                  <a:srgbClr val="93C5FD"/>
                </a:solidFill>
                <a:latin typeface="Courier New" pitchFamily="34" charset="0"/>
                <a:ea typeface="Courier New" pitchFamily="34" charset="-122"/>
                <a:cs typeface="Courier New" pitchFamily="34" charset="-120"/>
              </a:rPr>
              <a:t>FROM AirlineData</a:t>
            </a:r>
            <a:endParaRPr lang="en-US" sz="1000" dirty="0"/>
          </a:p>
          <a:p>
            <a:pPr marL="0" indent="0">
              <a:buNone/>
            </a:pPr>
            <a:r>
              <a:rPr lang="en-US" sz="1000" dirty="0">
                <a:solidFill>
                  <a:srgbClr val="93C5FD"/>
                </a:solidFill>
                <a:latin typeface="Courier New" pitchFamily="34" charset="0"/>
                <a:ea typeface="Courier New" pitchFamily="34" charset="-122"/>
                <a:cs typeface="Courier New" pitchFamily="34" charset="-120"/>
              </a:rPr>
              <a:t>WHERE Year = 2023</a:t>
            </a:r>
            <a:endParaRPr lang="en-US" sz="1000" dirty="0"/>
          </a:p>
          <a:p>
            <a:pPr marL="0" indent="0">
              <a:buNone/>
            </a:pPr>
            <a:r>
              <a:rPr lang="en-US" sz="1000" dirty="0">
                <a:solidFill>
                  <a:srgbClr val="93C5FD"/>
                </a:solidFill>
                <a:latin typeface="Courier New" pitchFamily="34" charset="0"/>
                <a:ea typeface="Courier New" pitchFamily="34" charset="-122"/>
                <a:cs typeface="Courier New" pitchFamily="34" charset="-120"/>
              </a:rPr>
              <a:t>GROUP BY CarrierName</a:t>
            </a:r>
            <a:endParaRPr lang="en-US" sz="1000" dirty="0"/>
          </a:p>
          <a:p>
            <a:pPr marL="0" indent="0">
              <a:buNone/>
            </a:pPr>
            <a:r>
              <a:rPr lang="en-US" sz="1000" dirty="0">
                <a:solidFill>
                  <a:srgbClr val="93C5FD"/>
                </a:solidFill>
                <a:latin typeface="Courier New" pitchFamily="34" charset="0"/>
                <a:ea typeface="Courier New" pitchFamily="34" charset="-122"/>
                <a:cs typeface="Courier New" pitchFamily="34" charset="-120"/>
              </a:rPr>
              <a:t>ORDER BY LoadFactor DESC;</a:t>
            </a:r>
            <a:endParaRPr lang="en-US" sz="1000" dirty="0"/>
          </a:p>
        </p:txBody>
      </p:sp>
      <p:sp>
        <p:nvSpPr>
          <p:cNvPr id="8" name="Shape 6"/>
          <p:cNvSpPr/>
          <p:nvPr/>
        </p:nvSpPr>
        <p:spPr>
          <a:xfrm>
            <a:off x="5212080" y="1005840"/>
            <a:ext cx="356616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9" name="Shape 7"/>
          <p:cNvSpPr/>
          <p:nvPr/>
        </p:nvSpPr>
        <p:spPr>
          <a:xfrm>
            <a:off x="5212080" y="1005840"/>
            <a:ext cx="64008" cy="1170432"/>
          </a:xfrm>
          <a:prstGeom prst="rect">
            <a:avLst/>
          </a:prstGeom>
          <a:solidFill>
            <a:srgbClr val="1565C0"/>
          </a:solidFill>
          <a:ln w="12700">
            <a:solidFill>
              <a:srgbClr val="1565C0"/>
            </a:solidFill>
            <a:prstDash val="solid"/>
          </a:ln>
        </p:spPr>
      </p:sp>
      <p:sp>
        <p:nvSpPr>
          <p:cNvPr id="10" name="Text 8"/>
          <p:cNvSpPr/>
          <p:nvPr/>
        </p:nvSpPr>
        <p:spPr>
          <a:xfrm>
            <a:off x="5394960" y="1097280"/>
            <a:ext cx="3291840" cy="320040"/>
          </a:xfrm>
          <a:prstGeom prst="rect">
            <a:avLst/>
          </a:prstGeom>
          <a:noFill/>
          <a:ln/>
        </p:spPr>
        <p:txBody>
          <a:bodyPr wrap="square" rtlCol="0" anchor="ctr"/>
          <a:lstStyle/>
          <a:p>
            <a:pPr marL="0" indent="0">
              <a:buNone/>
            </a:pPr>
            <a:r>
              <a:rPr lang="en-US" sz="1200" b="1" dirty="0">
                <a:solidFill>
                  <a:srgbClr val="1E293B"/>
                </a:solidFill>
              </a:rPr>
              <a:t>Top Carriers</a:t>
            </a:r>
            <a:endParaRPr lang="en-US" sz="1200" dirty="0"/>
          </a:p>
        </p:txBody>
      </p:sp>
      <p:sp>
        <p:nvSpPr>
          <p:cNvPr id="11" name="Text 9"/>
          <p:cNvSpPr/>
          <p:nvPr/>
        </p:nvSpPr>
        <p:spPr>
          <a:xfrm>
            <a:off x="5394960" y="1463040"/>
            <a:ext cx="3291840" cy="594360"/>
          </a:xfrm>
          <a:prstGeom prst="rect">
            <a:avLst/>
          </a:prstGeom>
          <a:noFill/>
          <a:ln/>
        </p:spPr>
        <p:txBody>
          <a:bodyPr wrap="square" rtlCol="0" anchor="ctr"/>
          <a:lstStyle/>
          <a:p>
            <a:pPr marL="0" indent="0">
              <a:lnSpc>
                <a:spcPct val="120000"/>
              </a:lnSpc>
              <a:buNone/>
            </a:pPr>
            <a:r>
              <a:rPr lang="en-US" sz="1050" dirty="0">
                <a:solidFill>
                  <a:srgbClr val="64748B"/>
                </a:solidFill>
              </a:rPr>
              <a:t>Ranked carriers by total passengers and load factor using GROUP BY + ORDER BY</a:t>
            </a:r>
            <a:endParaRPr lang="en-US" sz="1050" dirty="0"/>
          </a:p>
        </p:txBody>
      </p:sp>
      <p:sp>
        <p:nvSpPr>
          <p:cNvPr id="12" name="Shape 10"/>
          <p:cNvSpPr/>
          <p:nvPr/>
        </p:nvSpPr>
        <p:spPr>
          <a:xfrm>
            <a:off x="5212080" y="2304288"/>
            <a:ext cx="356616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3" name="Shape 11"/>
          <p:cNvSpPr/>
          <p:nvPr/>
        </p:nvSpPr>
        <p:spPr>
          <a:xfrm>
            <a:off x="5212080" y="2304288"/>
            <a:ext cx="64008" cy="1170432"/>
          </a:xfrm>
          <a:prstGeom prst="rect">
            <a:avLst/>
          </a:prstGeom>
          <a:solidFill>
            <a:srgbClr val="00897B"/>
          </a:solidFill>
          <a:ln w="12700">
            <a:solidFill>
              <a:srgbClr val="00897B"/>
            </a:solidFill>
            <a:prstDash val="solid"/>
          </a:ln>
        </p:spPr>
      </p:sp>
      <p:sp>
        <p:nvSpPr>
          <p:cNvPr id="14" name="Text 12"/>
          <p:cNvSpPr/>
          <p:nvPr/>
        </p:nvSpPr>
        <p:spPr>
          <a:xfrm>
            <a:off x="5394960" y="2395728"/>
            <a:ext cx="3291840" cy="320040"/>
          </a:xfrm>
          <a:prstGeom prst="rect">
            <a:avLst/>
          </a:prstGeom>
          <a:noFill/>
          <a:ln/>
        </p:spPr>
        <p:txBody>
          <a:bodyPr wrap="square" rtlCol="0" anchor="ctr"/>
          <a:lstStyle/>
          <a:p>
            <a:pPr marL="0" indent="0">
              <a:buNone/>
            </a:pPr>
            <a:r>
              <a:rPr lang="en-US" sz="1200" b="1" dirty="0">
                <a:solidFill>
                  <a:srgbClr val="1E293B"/>
                </a:solidFill>
              </a:rPr>
              <a:t>Route Analysis</a:t>
            </a:r>
            <a:endParaRPr lang="en-US" sz="1200" dirty="0"/>
          </a:p>
        </p:txBody>
      </p:sp>
      <p:sp>
        <p:nvSpPr>
          <p:cNvPr id="15" name="Text 13"/>
          <p:cNvSpPr/>
          <p:nvPr/>
        </p:nvSpPr>
        <p:spPr>
          <a:xfrm>
            <a:off x="5394960" y="2761488"/>
            <a:ext cx="3291840" cy="594360"/>
          </a:xfrm>
          <a:prstGeom prst="rect">
            <a:avLst/>
          </a:prstGeom>
          <a:noFill/>
          <a:ln/>
        </p:spPr>
        <p:txBody>
          <a:bodyPr wrap="square" rtlCol="0" anchor="ctr"/>
          <a:lstStyle/>
          <a:p>
            <a:pPr marL="0" indent="0">
              <a:lnSpc>
                <a:spcPct val="120000"/>
              </a:lnSpc>
              <a:buNone/>
            </a:pPr>
            <a:r>
              <a:rPr lang="en-US" sz="1050" dirty="0">
                <a:solidFill>
                  <a:srgbClr val="64748B"/>
                </a:solidFill>
              </a:rPr>
              <a:t>Identified busiest origin–destination pairs using aggregated flight counts</a:t>
            </a:r>
            <a:endParaRPr lang="en-US" sz="1050" dirty="0"/>
          </a:p>
        </p:txBody>
      </p:sp>
      <p:sp>
        <p:nvSpPr>
          <p:cNvPr id="16" name="Shape 14"/>
          <p:cNvSpPr/>
          <p:nvPr/>
        </p:nvSpPr>
        <p:spPr>
          <a:xfrm>
            <a:off x="5212080" y="3602736"/>
            <a:ext cx="3566160" cy="1170432"/>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7" name="Shape 15"/>
          <p:cNvSpPr/>
          <p:nvPr/>
        </p:nvSpPr>
        <p:spPr>
          <a:xfrm>
            <a:off x="5212080" y="3602736"/>
            <a:ext cx="64008" cy="1170432"/>
          </a:xfrm>
          <a:prstGeom prst="rect">
            <a:avLst/>
          </a:prstGeom>
          <a:solidFill>
            <a:srgbClr val="F9A825"/>
          </a:solidFill>
          <a:ln w="12700">
            <a:solidFill>
              <a:srgbClr val="F9A825"/>
            </a:solidFill>
            <a:prstDash val="solid"/>
          </a:ln>
        </p:spPr>
      </p:sp>
      <p:sp>
        <p:nvSpPr>
          <p:cNvPr id="18" name="Text 16"/>
          <p:cNvSpPr/>
          <p:nvPr/>
        </p:nvSpPr>
        <p:spPr>
          <a:xfrm>
            <a:off x="5394960" y="3694176"/>
            <a:ext cx="3291840" cy="320040"/>
          </a:xfrm>
          <a:prstGeom prst="rect">
            <a:avLst/>
          </a:prstGeom>
          <a:noFill/>
          <a:ln/>
        </p:spPr>
        <p:txBody>
          <a:bodyPr wrap="square" rtlCol="0" anchor="ctr"/>
          <a:lstStyle/>
          <a:p>
            <a:pPr marL="0" indent="0">
              <a:buNone/>
            </a:pPr>
            <a:r>
              <a:rPr lang="en-US" sz="1200" b="1" dirty="0">
                <a:solidFill>
                  <a:srgbClr val="1E293B"/>
                </a:solidFill>
              </a:rPr>
              <a:t>Time Aggregations</a:t>
            </a:r>
            <a:endParaRPr lang="en-US" sz="1200" dirty="0"/>
          </a:p>
        </p:txBody>
      </p:sp>
      <p:sp>
        <p:nvSpPr>
          <p:cNvPr id="19" name="Text 17"/>
          <p:cNvSpPr/>
          <p:nvPr/>
        </p:nvSpPr>
        <p:spPr>
          <a:xfrm>
            <a:off x="5394960" y="4059936"/>
            <a:ext cx="3291840" cy="594360"/>
          </a:xfrm>
          <a:prstGeom prst="rect">
            <a:avLst/>
          </a:prstGeom>
          <a:noFill/>
          <a:ln/>
        </p:spPr>
        <p:txBody>
          <a:bodyPr wrap="square" rtlCol="0" anchor="ctr"/>
          <a:lstStyle/>
          <a:p>
            <a:pPr marL="0" indent="0">
              <a:lnSpc>
                <a:spcPct val="120000"/>
              </a:lnSpc>
              <a:buNone/>
            </a:pPr>
            <a:r>
              <a:rPr lang="en-US" sz="1050" dirty="0">
                <a:solidFill>
                  <a:srgbClr val="64748B"/>
                </a:solidFill>
              </a:rPr>
              <a:t>Monthly, quarterly, and yearly rollups using DATEPART and CASE WHEN logic</a:t>
            </a:r>
            <a:endParaRPr lang="en-US" sz="1050" dirty="0"/>
          </a:p>
        </p:txBody>
      </p:sp>
      <p:sp>
        <p:nvSpPr>
          <p:cNvPr id="20" name="Text 18"/>
          <p:cNvSpPr/>
          <p:nvPr/>
        </p:nvSpPr>
        <p:spPr>
          <a:xfrm>
            <a:off x="5212080" y="4023360"/>
            <a:ext cx="3566160" cy="640080"/>
          </a:xfrm>
          <a:prstGeom prst="rect">
            <a:avLst/>
          </a:prstGeom>
          <a:noFill/>
          <a:ln/>
        </p:spPr>
        <p:txBody>
          <a:bodyPr wrap="square" rtlCol="0" anchor="ctr"/>
          <a:lstStyle/>
          <a:p>
            <a:pPr marL="0" indent="0">
              <a:buNone/>
            </a:pPr>
            <a:r>
              <a:rPr lang="en-US" sz="950" i="1" dirty="0">
                <a:solidFill>
                  <a:srgbClr val="64748B"/>
                </a:solidFill>
              </a:rPr>
              <a:t>Queries optimised with indexed columns on Year, Month, and CarrierCode for faster aggregation on large datasets.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0"/>
            <a:ext cx="164592" cy="914400"/>
          </a:xfrm>
          <a:prstGeom prst="rect">
            <a:avLst/>
          </a:prstGeom>
          <a:solidFill>
            <a:srgbClr val="F9A825"/>
          </a:solidFill>
          <a:ln w="12700">
            <a:solidFill>
              <a:srgbClr val="F9A825"/>
            </a:solidFill>
            <a:prstDash val="solid"/>
          </a:ln>
        </p:spPr>
      </p:sp>
      <p:sp>
        <p:nvSpPr>
          <p:cNvPr id="4" name="Text 2"/>
          <p:cNvSpPr/>
          <p:nvPr/>
        </p:nvSpPr>
        <p:spPr>
          <a:xfrm>
            <a:off x="320040" y="0"/>
            <a:ext cx="8229600" cy="914400"/>
          </a:xfrm>
          <a:prstGeom prst="rect">
            <a:avLst/>
          </a:prstGeom>
          <a:noFill/>
          <a:ln/>
        </p:spPr>
        <p:txBody>
          <a:bodyPr wrap="square" rtlCol="0" anchor="ctr"/>
          <a:lstStyle/>
          <a:p>
            <a:pPr marL="0" indent="0">
              <a:buNone/>
            </a:pPr>
            <a:r>
              <a:rPr lang="en-US" sz="2600" b="1" dirty="0">
                <a:solidFill>
                  <a:srgbClr val="FFFFFF"/>
                </a:solidFill>
              </a:rPr>
              <a:t>Excel &amp; Power BI Analysis</a:t>
            </a:r>
            <a:endParaRPr lang="en-US" sz="2600" dirty="0"/>
          </a:p>
        </p:txBody>
      </p:sp>
      <p:sp>
        <p:nvSpPr>
          <p:cNvPr id="5" name="Shape 3"/>
          <p:cNvSpPr/>
          <p:nvPr/>
        </p:nvSpPr>
        <p:spPr>
          <a:xfrm>
            <a:off x="365760" y="1051560"/>
            <a:ext cx="3931920" cy="37490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6" name="Shape 4"/>
          <p:cNvSpPr/>
          <p:nvPr/>
        </p:nvSpPr>
        <p:spPr>
          <a:xfrm>
            <a:off x="365760" y="1051560"/>
            <a:ext cx="3931920" cy="502920"/>
          </a:xfrm>
          <a:prstGeom prst="rect">
            <a:avLst/>
          </a:prstGeom>
          <a:solidFill>
            <a:srgbClr val="00897B"/>
          </a:solidFill>
          <a:ln w="12700">
            <a:solidFill>
              <a:srgbClr val="00897B"/>
            </a:solidFill>
            <a:prstDash val="solid"/>
          </a:ln>
        </p:spPr>
      </p:sp>
      <p:sp>
        <p:nvSpPr>
          <p:cNvPr id="7" name="Text 5"/>
          <p:cNvSpPr/>
          <p:nvPr/>
        </p:nvSpPr>
        <p:spPr>
          <a:xfrm>
            <a:off x="457200" y="1051560"/>
            <a:ext cx="3749040" cy="502920"/>
          </a:xfrm>
          <a:prstGeom prst="rect">
            <a:avLst/>
          </a:prstGeom>
          <a:noFill/>
          <a:ln/>
        </p:spPr>
        <p:txBody>
          <a:bodyPr wrap="square" rtlCol="0" anchor="ctr"/>
          <a:lstStyle/>
          <a:p>
            <a:pPr marL="0" indent="0">
              <a:buNone/>
            </a:pPr>
            <a:r>
              <a:rPr lang="en-US" sz="1400" b="1" dirty="0">
                <a:solidFill>
                  <a:srgbClr val="FFFFFF"/>
                </a:solidFill>
              </a:rPr>
              <a:t>EXCEL</a:t>
            </a:r>
            <a:endParaRPr lang="en-US" sz="1400" dirty="0"/>
          </a:p>
        </p:txBody>
      </p:sp>
      <p:sp>
        <p:nvSpPr>
          <p:cNvPr id="8" name="Text 6"/>
          <p:cNvSpPr/>
          <p:nvPr/>
        </p:nvSpPr>
        <p:spPr>
          <a:xfrm>
            <a:off x="502920" y="1664208"/>
            <a:ext cx="3657600" cy="347472"/>
          </a:xfrm>
          <a:prstGeom prst="rect">
            <a:avLst/>
          </a:prstGeom>
          <a:noFill/>
          <a:ln/>
        </p:spPr>
        <p:txBody>
          <a:bodyPr wrap="square" rtlCol="0" anchor="ctr"/>
          <a:lstStyle/>
          <a:p>
            <a:pPr marL="0" indent="0">
              <a:buNone/>
            </a:pPr>
            <a:r>
              <a:rPr lang="en-US" sz="1200" b="1" dirty="0">
                <a:solidFill>
                  <a:srgbClr val="00897B"/>
                </a:solidFill>
              </a:rPr>
              <a:t>Formulas &amp; Pivot Analysis</a:t>
            </a:r>
            <a:endParaRPr lang="en-US" sz="1200" dirty="0"/>
          </a:p>
        </p:txBody>
      </p:sp>
      <p:sp>
        <p:nvSpPr>
          <p:cNvPr id="9" name="Text 7"/>
          <p:cNvSpPr/>
          <p:nvPr/>
        </p:nvSpPr>
        <p:spPr>
          <a:xfrm>
            <a:off x="502920" y="2057400"/>
            <a:ext cx="3657600" cy="274320"/>
          </a:xfrm>
          <a:prstGeom prst="rect">
            <a:avLst/>
          </a:prstGeom>
          <a:noFill/>
          <a:ln/>
        </p:spPr>
        <p:txBody>
          <a:bodyPr wrap="square" rtlCol="0" anchor="ctr"/>
          <a:lstStyle/>
          <a:p>
            <a:pPr marL="0" indent="0">
              <a:buNone/>
            </a:pPr>
            <a:r>
              <a:rPr lang="en-US" sz="950" b="1" dirty="0">
                <a:solidFill>
                  <a:srgbClr val="64748B"/>
                </a:solidFill>
              </a:rPr>
              <a:t>Key Formulas</a:t>
            </a:r>
            <a:endParaRPr lang="en-US" sz="950" dirty="0"/>
          </a:p>
        </p:txBody>
      </p:sp>
      <p:sp>
        <p:nvSpPr>
          <p:cNvPr id="10" name="Text 8"/>
          <p:cNvSpPr/>
          <p:nvPr/>
        </p:nvSpPr>
        <p:spPr>
          <a:xfrm>
            <a:off x="502920" y="2331720"/>
            <a:ext cx="3657600" cy="502920"/>
          </a:xfrm>
          <a:prstGeom prst="rect">
            <a:avLst/>
          </a:prstGeom>
          <a:noFill/>
          <a:ln/>
        </p:spPr>
        <p:txBody>
          <a:bodyPr wrap="square" rtlCol="0" anchor="ctr"/>
          <a:lstStyle/>
          <a:p>
            <a:pPr marL="0" indent="0">
              <a:buNone/>
            </a:pPr>
            <a:r>
              <a:rPr lang="en-US" sz="1050" dirty="0">
                <a:solidFill>
                  <a:srgbClr val="1E293B"/>
                </a:solidFill>
              </a:rPr>
              <a:t>VLOOKUP, IF, SUMIF, AVERAGEIFS, and TEXT functions for data enrichment and KPI derivation</a:t>
            </a:r>
            <a:endParaRPr lang="en-US" sz="1050" dirty="0"/>
          </a:p>
        </p:txBody>
      </p:sp>
      <p:sp>
        <p:nvSpPr>
          <p:cNvPr id="11" name="Text 9"/>
          <p:cNvSpPr/>
          <p:nvPr/>
        </p:nvSpPr>
        <p:spPr>
          <a:xfrm>
            <a:off x="502920" y="2944368"/>
            <a:ext cx="3657600" cy="274320"/>
          </a:xfrm>
          <a:prstGeom prst="rect">
            <a:avLst/>
          </a:prstGeom>
          <a:noFill/>
          <a:ln/>
        </p:spPr>
        <p:txBody>
          <a:bodyPr wrap="square" rtlCol="0" anchor="ctr"/>
          <a:lstStyle/>
          <a:p>
            <a:pPr marL="0" indent="0">
              <a:buNone/>
            </a:pPr>
            <a:r>
              <a:rPr lang="en-US" sz="950" b="1" dirty="0">
                <a:solidFill>
                  <a:srgbClr val="64748B"/>
                </a:solidFill>
              </a:rPr>
              <a:t>Pivot Tables</a:t>
            </a:r>
            <a:endParaRPr lang="en-US" sz="950" dirty="0"/>
          </a:p>
        </p:txBody>
      </p:sp>
      <p:sp>
        <p:nvSpPr>
          <p:cNvPr id="12" name="Text 10"/>
          <p:cNvSpPr/>
          <p:nvPr/>
        </p:nvSpPr>
        <p:spPr>
          <a:xfrm>
            <a:off x="502920" y="3218688"/>
            <a:ext cx="3657600" cy="502920"/>
          </a:xfrm>
          <a:prstGeom prst="rect">
            <a:avLst/>
          </a:prstGeom>
          <a:noFill/>
          <a:ln/>
        </p:spPr>
        <p:txBody>
          <a:bodyPr wrap="square" rtlCol="0" anchor="ctr"/>
          <a:lstStyle/>
          <a:p>
            <a:pPr marL="0" indent="0">
              <a:buNone/>
            </a:pPr>
            <a:r>
              <a:rPr lang="en-US" sz="1050" dirty="0">
                <a:solidFill>
                  <a:srgbClr val="1E293B"/>
                </a:solidFill>
              </a:rPr>
              <a:t>Dynamic summaries by carrier, route, and time period with slicers for interactive filtering</a:t>
            </a:r>
            <a:endParaRPr lang="en-US" sz="1050" dirty="0"/>
          </a:p>
        </p:txBody>
      </p:sp>
      <p:sp>
        <p:nvSpPr>
          <p:cNvPr id="13" name="Shape 11"/>
          <p:cNvSpPr/>
          <p:nvPr/>
        </p:nvSpPr>
        <p:spPr>
          <a:xfrm>
            <a:off x="4846320" y="1051560"/>
            <a:ext cx="3931920" cy="37490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4" name="Shape 12"/>
          <p:cNvSpPr/>
          <p:nvPr/>
        </p:nvSpPr>
        <p:spPr>
          <a:xfrm>
            <a:off x="4846320" y="1051560"/>
            <a:ext cx="3931920" cy="502920"/>
          </a:xfrm>
          <a:prstGeom prst="rect">
            <a:avLst/>
          </a:prstGeom>
          <a:solidFill>
            <a:srgbClr val="F9A825"/>
          </a:solidFill>
          <a:ln w="12700">
            <a:solidFill>
              <a:srgbClr val="F9A825"/>
            </a:solidFill>
            <a:prstDash val="solid"/>
          </a:ln>
        </p:spPr>
      </p:sp>
      <p:sp>
        <p:nvSpPr>
          <p:cNvPr id="15" name="Text 13"/>
          <p:cNvSpPr/>
          <p:nvPr/>
        </p:nvSpPr>
        <p:spPr>
          <a:xfrm>
            <a:off x="4937760" y="1051560"/>
            <a:ext cx="3749040" cy="502920"/>
          </a:xfrm>
          <a:prstGeom prst="rect">
            <a:avLst/>
          </a:prstGeom>
          <a:noFill/>
          <a:ln/>
        </p:spPr>
        <p:txBody>
          <a:bodyPr wrap="square" rtlCol="0" anchor="ctr"/>
          <a:lstStyle/>
          <a:p>
            <a:pPr marL="0" indent="0">
              <a:buNone/>
            </a:pPr>
            <a:r>
              <a:rPr lang="en-US" sz="1400" b="1" dirty="0">
                <a:solidFill>
                  <a:srgbClr val="0D1B3E"/>
                </a:solidFill>
              </a:rPr>
              <a:t>POWER BI</a:t>
            </a:r>
            <a:endParaRPr lang="en-US" sz="1400" dirty="0"/>
          </a:p>
        </p:txBody>
      </p:sp>
      <p:sp>
        <p:nvSpPr>
          <p:cNvPr id="16" name="Text 14"/>
          <p:cNvSpPr/>
          <p:nvPr/>
        </p:nvSpPr>
        <p:spPr>
          <a:xfrm>
            <a:off x="4937760" y="1664208"/>
            <a:ext cx="3657600" cy="347472"/>
          </a:xfrm>
          <a:prstGeom prst="rect">
            <a:avLst/>
          </a:prstGeom>
          <a:noFill/>
          <a:ln/>
        </p:spPr>
        <p:txBody>
          <a:bodyPr wrap="square" rtlCol="0" anchor="ctr"/>
          <a:lstStyle/>
          <a:p>
            <a:pPr marL="0" indent="0">
              <a:buNone/>
            </a:pPr>
            <a:r>
              <a:rPr lang="en-US" sz="1200" b="1" dirty="0">
                <a:solidFill>
                  <a:srgbClr val="B8860B"/>
                </a:solidFill>
              </a:rPr>
              <a:t>Dashboard Visuals &amp; Insights</a:t>
            </a:r>
            <a:endParaRPr lang="en-US" sz="1200" dirty="0"/>
          </a:p>
        </p:txBody>
      </p:sp>
      <p:sp>
        <p:nvSpPr>
          <p:cNvPr id="17" name="Text 15"/>
          <p:cNvSpPr/>
          <p:nvPr/>
        </p:nvSpPr>
        <p:spPr>
          <a:xfrm>
            <a:off x="4937760" y="2057400"/>
            <a:ext cx="3657600" cy="274320"/>
          </a:xfrm>
          <a:prstGeom prst="rect">
            <a:avLst/>
          </a:prstGeom>
          <a:noFill/>
          <a:ln/>
        </p:spPr>
        <p:txBody>
          <a:bodyPr wrap="square" rtlCol="0" anchor="ctr"/>
          <a:lstStyle/>
          <a:p>
            <a:pPr marL="0" indent="0">
              <a:buNone/>
            </a:pPr>
            <a:r>
              <a:rPr lang="en-US" sz="950" b="1" dirty="0">
                <a:solidFill>
                  <a:srgbClr val="64748B"/>
                </a:solidFill>
              </a:rPr>
              <a:t>KPI Cards</a:t>
            </a:r>
            <a:endParaRPr lang="en-US" sz="950" dirty="0"/>
          </a:p>
        </p:txBody>
      </p:sp>
      <p:sp>
        <p:nvSpPr>
          <p:cNvPr id="18" name="Text 16"/>
          <p:cNvSpPr/>
          <p:nvPr/>
        </p:nvSpPr>
        <p:spPr>
          <a:xfrm>
            <a:off x="4937760" y="2331720"/>
            <a:ext cx="3657600" cy="502920"/>
          </a:xfrm>
          <a:prstGeom prst="rect">
            <a:avLst/>
          </a:prstGeom>
          <a:noFill/>
          <a:ln/>
        </p:spPr>
        <p:txBody>
          <a:bodyPr wrap="square" rtlCol="0" anchor="ctr"/>
          <a:lstStyle/>
          <a:p>
            <a:pPr marL="0" indent="0">
              <a:buNone/>
            </a:pPr>
            <a:r>
              <a:rPr lang="en-US" sz="1050" dirty="0">
                <a:solidFill>
                  <a:srgbClr val="1E293B"/>
                </a:solidFill>
              </a:rPr>
              <a:t>Total Passengers, Avg Load Factor, Total Flights — top-line metrics at a glance</a:t>
            </a:r>
            <a:endParaRPr lang="en-US" sz="1050" dirty="0"/>
          </a:p>
        </p:txBody>
      </p:sp>
      <p:sp>
        <p:nvSpPr>
          <p:cNvPr id="19" name="Text 17"/>
          <p:cNvSpPr/>
          <p:nvPr/>
        </p:nvSpPr>
        <p:spPr>
          <a:xfrm>
            <a:off x="4937760" y="3063240"/>
            <a:ext cx="3657600" cy="274320"/>
          </a:xfrm>
          <a:prstGeom prst="rect">
            <a:avLst/>
          </a:prstGeom>
          <a:noFill/>
          <a:ln/>
        </p:spPr>
        <p:txBody>
          <a:bodyPr wrap="square" rtlCol="0" anchor="ctr"/>
          <a:lstStyle/>
          <a:p>
            <a:pPr marL="0" indent="0">
              <a:buNone/>
            </a:pPr>
            <a:r>
              <a:rPr lang="en-US" sz="950" b="1" dirty="0">
                <a:solidFill>
                  <a:srgbClr val="64748B"/>
                </a:solidFill>
              </a:rPr>
              <a:t>Trend Visuals</a:t>
            </a:r>
            <a:endParaRPr lang="en-US" sz="950" dirty="0"/>
          </a:p>
        </p:txBody>
      </p:sp>
      <p:sp>
        <p:nvSpPr>
          <p:cNvPr id="20" name="Text 18"/>
          <p:cNvSpPr/>
          <p:nvPr/>
        </p:nvSpPr>
        <p:spPr>
          <a:xfrm>
            <a:off x="4937760" y="3337560"/>
            <a:ext cx="3657600" cy="502920"/>
          </a:xfrm>
          <a:prstGeom prst="rect">
            <a:avLst/>
          </a:prstGeom>
          <a:noFill/>
          <a:ln/>
        </p:spPr>
        <p:txBody>
          <a:bodyPr wrap="square" rtlCol="0" anchor="ctr"/>
          <a:lstStyle/>
          <a:p>
            <a:pPr marL="0" indent="0">
              <a:buNone/>
            </a:pPr>
            <a:r>
              <a:rPr lang="en-US" sz="1050" dirty="0">
                <a:solidFill>
                  <a:srgbClr val="1E293B"/>
                </a:solidFill>
              </a:rPr>
              <a:t>Monthly trend lines, carrier comparison bar charts, and route heat maps with drill-through</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0"/>
            <a:ext cx="164592" cy="914400"/>
          </a:xfrm>
          <a:prstGeom prst="rect">
            <a:avLst/>
          </a:prstGeom>
          <a:solidFill>
            <a:srgbClr val="F9A825"/>
          </a:solidFill>
          <a:ln w="12700">
            <a:solidFill>
              <a:srgbClr val="F9A825"/>
            </a:solidFill>
            <a:prstDash val="solid"/>
          </a:ln>
        </p:spPr>
      </p:sp>
      <p:sp>
        <p:nvSpPr>
          <p:cNvPr id="4" name="Shape 2"/>
          <p:cNvSpPr/>
          <p:nvPr/>
        </p:nvSpPr>
        <p:spPr>
          <a:xfrm>
            <a:off x="320040" y="109728"/>
            <a:ext cx="1051560" cy="320040"/>
          </a:xfrm>
          <a:prstGeom prst="roundRect">
            <a:avLst>
              <a:gd name="adj" fmla="val 17143"/>
            </a:avLst>
          </a:prstGeom>
          <a:solidFill>
            <a:srgbClr val="F9A825"/>
          </a:solidFill>
          <a:ln w="12700">
            <a:solidFill>
              <a:srgbClr val="F9A825"/>
            </a:solidFill>
            <a:prstDash val="solid"/>
          </a:ln>
        </p:spPr>
      </p:sp>
      <p:sp>
        <p:nvSpPr>
          <p:cNvPr id="5" name="Text 3"/>
          <p:cNvSpPr/>
          <p:nvPr/>
        </p:nvSpPr>
        <p:spPr>
          <a:xfrm>
            <a:off x="320040" y="109728"/>
            <a:ext cx="1051560" cy="320040"/>
          </a:xfrm>
          <a:prstGeom prst="rect">
            <a:avLst/>
          </a:prstGeom>
          <a:noFill/>
          <a:ln/>
        </p:spPr>
        <p:txBody>
          <a:bodyPr wrap="square" rtlCol="0" anchor="ctr"/>
          <a:lstStyle/>
          <a:p>
            <a:pPr marL="0" indent="0" algn="ctr">
              <a:buNone/>
            </a:pPr>
            <a:r>
              <a:rPr lang="en-US" sz="850" b="1" dirty="0">
                <a:solidFill>
                  <a:srgbClr val="0D1B3E"/>
                </a:solidFill>
              </a:rPr>
              <a:t>EXCEL</a:t>
            </a:r>
            <a:endParaRPr lang="en-US" sz="850" dirty="0"/>
          </a:p>
        </p:txBody>
      </p:sp>
      <p:sp>
        <p:nvSpPr>
          <p:cNvPr id="6" name="Text 4"/>
          <p:cNvSpPr/>
          <p:nvPr/>
        </p:nvSpPr>
        <p:spPr>
          <a:xfrm>
            <a:off x="1463040" y="73152"/>
            <a:ext cx="7315200" cy="457200"/>
          </a:xfrm>
          <a:prstGeom prst="rect">
            <a:avLst/>
          </a:prstGeom>
          <a:noFill/>
          <a:ln/>
        </p:spPr>
        <p:txBody>
          <a:bodyPr wrap="square" rtlCol="0" anchor="ctr"/>
          <a:lstStyle/>
          <a:p>
            <a:pPr marL="0" indent="0">
              <a:buNone/>
            </a:pPr>
            <a:r>
              <a:rPr lang="en-US" sz="2200" b="1" dirty="0">
                <a:solidFill>
                  <a:srgbClr val="FFFFFF"/>
                </a:solidFill>
              </a:rPr>
              <a:t>Airline Performance Dashboard</a:t>
            </a:r>
            <a:endParaRPr lang="en-US" sz="2200" dirty="0"/>
          </a:p>
        </p:txBody>
      </p:sp>
      <p:sp>
        <p:nvSpPr>
          <p:cNvPr id="7" name="Text 5"/>
          <p:cNvSpPr/>
          <p:nvPr/>
        </p:nvSpPr>
        <p:spPr>
          <a:xfrm>
            <a:off x="1463040" y="548640"/>
            <a:ext cx="7315200" cy="292608"/>
          </a:xfrm>
          <a:prstGeom prst="rect">
            <a:avLst/>
          </a:prstGeom>
          <a:noFill/>
          <a:ln/>
        </p:spPr>
        <p:txBody>
          <a:bodyPr wrap="square" rtlCol="0" anchor="ctr"/>
          <a:lstStyle/>
          <a:p>
            <a:pPr marL="0" indent="0">
              <a:buNone/>
            </a:pPr>
            <a:r>
              <a:rPr lang="en-US" sz="1000" dirty="0">
                <a:solidFill>
                  <a:srgbClr val="42A5F5"/>
                </a:solidFill>
              </a:rPr>
              <a:t>Interactive KPI cards · Load factor analysis · Carrier ranking · Route heat maps · Time-series trends</a:t>
            </a:r>
            <a:endParaRPr lang="en-US" sz="1000" dirty="0"/>
          </a:p>
        </p:txBody>
      </p:sp>
      <p:sp>
        <p:nvSpPr>
          <p:cNvPr id="8" name="Shape 6"/>
          <p:cNvSpPr/>
          <p:nvPr/>
        </p:nvSpPr>
        <p:spPr>
          <a:xfrm>
            <a:off x="256032" y="1005840"/>
            <a:ext cx="8631936" cy="3840480"/>
          </a:xfrm>
          <a:prstGeom prst="rect">
            <a:avLst/>
          </a:prstGeom>
          <a:solidFill>
            <a:srgbClr val="000000"/>
          </a:solidFill>
          <a:ln w="12700">
            <a:solidFill>
              <a:srgbClr val="F9A825"/>
            </a:solidFill>
            <a:prstDash val="solid"/>
          </a:ln>
          <a:effectLst>
            <a:outerShdw blurRad="127000" dist="50800" dir="8100000" algn="bl" rotWithShape="0">
              <a:srgbClr val="000000">
                <a:alpha val="18000"/>
              </a:srgbClr>
            </a:outerShdw>
          </a:effectLst>
        </p:spPr>
      </p:sp>
      <p:pic>
        <p:nvPicPr>
          <p:cNvPr id="9" name="Image 0" descr="/home/claude/dashboard_powerbi.png"/>
          <p:cNvPicPr>
            <a:picLocks noChangeAspect="1"/>
          </p:cNvPicPr>
          <p:nvPr/>
        </p:nvPicPr>
        <p:blipFill>
          <a:blip r:embed="rId3"/>
          <a:stretch>
            <a:fillRect/>
          </a:stretch>
        </p:blipFill>
        <p:spPr>
          <a:xfrm>
            <a:off x="292608" y="1042416"/>
            <a:ext cx="8558784" cy="3767328"/>
          </a:xfrm>
          <a:prstGeom prst="rect">
            <a:avLst/>
          </a:prstGeom>
        </p:spPr>
      </p:pic>
      <p:sp>
        <p:nvSpPr>
          <p:cNvPr id="10" name="Shape 7"/>
          <p:cNvSpPr/>
          <p:nvPr/>
        </p:nvSpPr>
        <p:spPr>
          <a:xfrm>
            <a:off x="384048" y="4462272"/>
            <a:ext cx="1965960" cy="548640"/>
          </a:xfrm>
          <a:prstGeom prst="roundRect">
            <a:avLst>
              <a:gd name="adj" fmla="val 13333"/>
            </a:avLst>
          </a:prstGeom>
          <a:solidFill>
            <a:srgbClr val="0D1B3E">
              <a:alpha val="90000"/>
            </a:srgbClr>
          </a:solidFill>
          <a:ln w="12700">
            <a:solidFill>
              <a:srgbClr val="42A5F5"/>
            </a:solidFill>
            <a:prstDash val="solid"/>
          </a:ln>
        </p:spPr>
      </p:sp>
      <p:sp>
        <p:nvSpPr>
          <p:cNvPr id="11" name="Text 8"/>
          <p:cNvSpPr/>
          <p:nvPr/>
        </p:nvSpPr>
        <p:spPr>
          <a:xfrm>
            <a:off x="384048" y="4462272"/>
            <a:ext cx="1965960" cy="548640"/>
          </a:xfrm>
          <a:prstGeom prst="rect">
            <a:avLst/>
          </a:prstGeom>
          <a:noFill/>
          <a:ln/>
        </p:spPr>
        <p:txBody>
          <a:bodyPr wrap="square" rtlCol="0" anchor="ctr"/>
          <a:lstStyle/>
          <a:p>
            <a:pPr marL="0" indent="0" algn="ctr">
              <a:buNone/>
            </a:pPr>
            <a:r>
              <a:rPr lang="en-US" sz="1300" b="1" dirty="0">
                <a:solidFill>
                  <a:srgbClr val="42A5F5"/>
                </a:solidFill>
              </a:rPr>
              <a:t>1,548  </a:t>
            </a:r>
            <a:r>
              <a:rPr lang="en-US" sz="900" dirty="0">
                <a:solidFill>
                  <a:srgbClr val="CBD5E1"/>
                </a:solidFill>
              </a:rPr>
              <a:t>Total Flights</a:t>
            </a:r>
            <a:endParaRPr lang="en-US" sz="1300" dirty="0"/>
          </a:p>
        </p:txBody>
      </p:sp>
      <p:sp>
        <p:nvSpPr>
          <p:cNvPr id="12" name="Shape 9"/>
          <p:cNvSpPr/>
          <p:nvPr/>
        </p:nvSpPr>
        <p:spPr>
          <a:xfrm>
            <a:off x="2523744" y="4462272"/>
            <a:ext cx="1965960" cy="548640"/>
          </a:xfrm>
          <a:prstGeom prst="roundRect">
            <a:avLst>
              <a:gd name="adj" fmla="val 13333"/>
            </a:avLst>
          </a:prstGeom>
          <a:solidFill>
            <a:srgbClr val="0D1B3E">
              <a:alpha val="90000"/>
            </a:srgbClr>
          </a:solidFill>
          <a:ln w="12700">
            <a:solidFill>
              <a:srgbClr val="00897B"/>
            </a:solidFill>
            <a:prstDash val="solid"/>
          </a:ln>
        </p:spPr>
      </p:sp>
      <p:sp>
        <p:nvSpPr>
          <p:cNvPr id="13" name="Text 10"/>
          <p:cNvSpPr/>
          <p:nvPr/>
        </p:nvSpPr>
        <p:spPr>
          <a:xfrm>
            <a:off x="2523744" y="4462272"/>
            <a:ext cx="1965960" cy="548640"/>
          </a:xfrm>
          <a:prstGeom prst="rect">
            <a:avLst/>
          </a:prstGeom>
          <a:noFill/>
          <a:ln/>
        </p:spPr>
        <p:txBody>
          <a:bodyPr wrap="square" rtlCol="0" anchor="ctr"/>
          <a:lstStyle/>
          <a:p>
            <a:pPr marL="0" indent="0" algn="ctr">
              <a:buNone/>
            </a:pPr>
            <a:r>
              <a:rPr lang="en-US" sz="1300" b="1" dirty="0">
                <a:solidFill>
                  <a:srgbClr val="00897B"/>
                </a:solidFill>
              </a:rPr>
              <a:t>187M  </a:t>
            </a:r>
            <a:r>
              <a:rPr lang="en-US" sz="900" dirty="0">
                <a:solidFill>
                  <a:srgbClr val="CBD5E1"/>
                </a:solidFill>
              </a:rPr>
              <a:t>Total Passengers</a:t>
            </a:r>
            <a:endParaRPr lang="en-US" sz="1300" dirty="0"/>
          </a:p>
        </p:txBody>
      </p:sp>
      <p:sp>
        <p:nvSpPr>
          <p:cNvPr id="14" name="Shape 11"/>
          <p:cNvSpPr/>
          <p:nvPr/>
        </p:nvSpPr>
        <p:spPr>
          <a:xfrm>
            <a:off x="4663440" y="4462272"/>
            <a:ext cx="1965960" cy="548640"/>
          </a:xfrm>
          <a:prstGeom prst="roundRect">
            <a:avLst>
              <a:gd name="adj" fmla="val 13333"/>
            </a:avLst>
          </a:prstGeom>
          <a:solidFill>
            <a:srgbClr val="0D1B3E">
              <a:alpha val="90000"/>
            </a:srgbClr>
          </a:solidFill>
          <a:ln w="12700">
            <a:solidFill>
              <a:srgbClr val="00ACC1"/>
            </a:solidFill>
            <a:prstDash val="solid"/>
          </a:ln>
        </p:spPr>
      </p:sp>
      <p:sp>
        <p:nvSpPr>
          <p:cNvPr id="15" name="Text 12"/>
          <p:cNvSpPr/>
          <p:nvPr/>
        </p:nvSpPr>
        <p:spPr>
          <a:xfrm>
            <a:off x="4663440" y="4462272"/>
            <a:ext cx="1965960" cy="548640"/>
          </a:xfrm>
          <a:prstGeom prst="rect">
            <a:avLst/>
          </a:prstGeom>
          <a:noFill/>
          <a:ln/>
        </p:spPr>
        <p:txBody>
          <a:bodyPr wrap="square" rtlCol="0" anchor="ctr"/>
          <a:lstStyle/>
          <a:p>
            <a:pPr marL="0" indent="0" algn="ctr">
              <a:buNone/>
            </a:pPr>
            <a:r>
              <a:rPr lang="en-US" sz="1300" b="1" dirty="0">
                <a:solidFill>
                  <a:srgbClr val="00ACC1"/>
                </a:solidFill>
              </a:rPr>
              <a:t>244M  </a:t>
            </a:r>
            <a:r>
              <a:rPr lang="en-US" sz="900" dirty="0">
                <a:solidFill>
                  <a:srgbClr val="CBD5E1"/>
                </a:solidFill>
              </a:rPr>
              <a:t>Available Seats</a:t>
            </a:r>
            <a:endParaRPr lang="en-US" sz="1300" dirty="0"/>
          </a:p>
        </p:txBody>
      </p:sp>
      <p:sp>
        <p:nvSpPr>
          <p:cNvPr id="16" name="Shape 13"/>
          <p:cNvSpPr/>
          <p:nvPr/>
        </p:nvSpPr>
        <p:spPr>
          <a:xfrm>
            <a:off x="6803136" y="4462272"/>
            <a:ext cx="1965960" cy="548640"/>
          </a:xfrm>
          <a:prstGeom prst="roundRect">
            <a:avLst>
              <a:gd name="adj" fmla="val 13333"/>
            </a:avLst>
          </a:prstGeom>
          <a:solidFill>
            <a:srgbClr val="0D1B3E">
              <a:alpha val="90000"/>
            </a:srgbClr>
          </a:solidFill>
          <a:ln w="12700">
            <a:solidFill>
              <a:srgbClr val="F9A825"/>
            </a:solidFill>
            <a:prstDash val="solid"/>
          </a:ln>
        </p:spPr>
      </p:sp>
      <p:sp>
        <p:nvSpPr>
          <p:cNvPr id="17" name="Text 14"/>
          <p:cNvSpPr/>
          <p:nvPr/>
        </p:nvSpPr>
        <p:spPr>
          <a:xfrm>
            <a:off x="6803136" y="4462272"/>
            <a:ext cx="1965960" cy="548640"/>
          </a:xfrm>
          <a:prstGeom prst="rect">
            <a:avLst/>
          </a:prstGeom>
          <a:noFill/>
          <a:ln/>
        </p:spPr>
        <p:txBody>
          <a:bodyPr wrap="square" rtlCol="0" anchor="ctr"/>
          <a:lstStyle/>
          <a:p>
            <a:pPr marL="0" indent="0" algn="ctr">
              <a:buNone/>
            </a:pPr>
            <a:r>
              <a:rPr lang="en-US" sz="1300" b="1" dirty="0">
                <a:solidFill>
                  <a:srgbClr val="F9A825"/>
                </a:solidFill>
              </a:rPr>
              <a:t>76.80%  </a:t>
            </a:r>
            <a:r>
              <a:rPr lang="en-US" sz="900" dirty="0">
                <a:solidFill>
                  <a:srgbClr val="CBD5E1"/>
                </a:solidFill>
              </a:rPr>
              <a:t>Load Factor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0"/>
            <a:ext cx="164592" cy="914400"/>
          </a:xfrm>
          <a:prstGeom prst="rect">
            <a:avLst/>
          </a:prstGeom>
          <a:solidFill>
            <a:srgbClr val="F9A825"/>
          </a:solidFill>
          <a:ln w="12700">
            <a:solidFill>
              <a:srgbClr val="F9A825"/>
            </a:solidFill>
            <a:prstDash val="solid"/>
          </a:ln>
        </p:spPr>
      </p:sp>
      <p:sp>
        <p:nvSpPr>
          <p:cNvPr id="4" name="Shape 2"/>
          <p:cNvSpPr/>
          <p:nvPr/>
        </p:nvSpPr>
        <p:spPr>
          <a:xfrm>
            <a:off x="320040" y="109728"/>
            <a:ext cx="822960" cy="320040"/>
          </a:xfrm>
          <a:prstGeom prst="roundRect">
            <a:avLst>
              <a:gd name="adj" fmla="val 17143"/>
            </a:avLst>
          </a:prstGeom>
          <a:solidFill>
            <a:srgbClr val="00897B"/>
          </a:solidFill>
          <a:ln w="12700">
            <a:solidFill>
              <a:srgbClr val="00897B"/>
            </a:solidFill>
            <a:prstDash val="solid"/>
          </a:ln>
        </p:spPr>
        <p:txBody>
          <a:bodyPr/>
          <a:lstStyle/>
          <a:p>
            <a:endParaRPr lang="en-IN" dirty="0"/>
          </a:p>
        </p:txBody>
      </p:sp>
      <p:sp>
        <p:nvSpPr>
          <p:cNvPr id="5" name="Text 3"/>
          <p:cNvSpPr/>
          <p:nvPr/>
        </p:nvSpPr>
        <p:spPr>
          <a:xfrm>
            <a:off x="320040" y="109728"/>
            <a:ext cx="822960" cy="320040"/>
          </a:xfrm>
          <a:prstGeom prst="rect">
            <a:avLst/>
          </a:prstGeom>
          <a:noFill/>
          <a:ln/>
        </p:spPr>
        <p:txBody>
          <a:bodyPr wrap="square" rtlCol="0" anchor="ctr"/>
          <a:lstStyle/>
          <a:p>
            <a:pPr marL="0" indent="0" algn="ctr">
              <a:buNone/>
            </a:pPr>
            <a:r>
              <a:rPr lang="en-US" sz="850" dirty="0"/>
              <a:t>POWER BI</a:t>
            </a:r>
          </a:p>
        </p:txBody>
      </p:sp>
      <p:sp>
        <p:nvSpPr>
          <p:cNvPr id="6" name="Text 4"/>
          <p:cNvSpPr/>
          <p:nvPr/>
        </p:nvSpPr>
        <p:spPr>
          <a:xfrm>
            <a:off x="1234440" y="73152"/>
            <a:ext cx="7315200" cy="457200"/>
          </a:xfrm>
          <a:prstGeom prst="rect">
            <a:avLst/>
          </a:prstGeom>
          <a:noFill/>
          <a:ln/>
        </p:spPr>
        <p:txBody>
          <a:bodyPr wrap="square" rtlCol="0" anchor="ctr"/>
          <a:lstStyle/>
          <a:p>
            <a:pPr marL="0" indent="0">
              <a:buNone/>
            </a:pPr>
            <a:r>
              <a:rPr lang="en-US" sz="2200" b="1" dirty="0">
                <a:solidFill>
                  <a:srgbClr val="FFFFFF"/>
                </a:solidFill>
              </a:rPr>
              <a:t>High Cloud Airlines Analysis</a:t>
            </a:r>
            <a:endParaRPr lang="en-US" sz="2200" dirty="0"/>
          </a:p>
        </p:txBody>
      </p:sp>
      <p:sp>
        <p:nvSpPr>
          <p:cNvPr id="7" name="Text 5"/>
          <p:cNvSpPr/>
          <p:nvPr/>
        </p:nvSpPr>
        <p:spPr>
          <a:xfrm>
            <a:off x="1234440" y="548640"/>
            <a:ext cx="7772400" cy="292608"/>
          </a:xfrm>
          <a:prstGeom prst="rect">
            <a:avLst/>
          </a:prstGeom>
          <a:noFill/>
          <a:ln/>
        </p:spPr>
        <p:txBody>
          <a:bodyPr wrap="square" rtlCol="0" anchor="ctr"/>
          <a:lstStyle/>
          <a:p>
            <a:pPr marL="0" indent="0">
              <a:buNone/>
            </a:pPr>
            <a:r>
              <a:rPr lang="en-US" sz="1000" dirty="0">
                <a:solidFill>
                  <a:srgbClr val="42A5F5"/>
                </a:solidFill>
              </a:rPr>
              <a:t>Pivot tables · Load factor by year · Flights by distance group · Top routes · Weekend vs weekday comparison</a:t>
            </a:r>
            <a:endParaRPr lang="en-US" sz="1000" dirty="0"/>
          </a:p>
        </p:txBody>
      </p:sp>
      <p:sp>
        <p:nvSpPr>
          <p:cNvPr id="8" name="Shape 6"/>
          <p:cNvSpPr/>
          <p:nvPr/>
        </p:nvSpPr>
        <p:spPr>
          <a:xfrm>
            <a:off x="256032" y="1005840"/>
            <a:ext cx="8631936" cy="3840480"/>
          </a:xfrm>
          <a:prstGeom prst="rect">
            <a:avLst/>
          </a:prstGeom>
          <a:solidFill>
            <a:srgbClr val="000000"/>
          </a:solidFill>
          <a:ln w="12700">
            <a:solidFill>
              <a:srgbClr val="00897B"/>
            </a:solidFill>
            <a:prstDash val="solid"/>
          </a:ln>
          <a:effectLst>
            <a:outerShdw blurRad="127000" dist="50800" dir="8100000" algn="bl" rotWithShape="0">
              <a:srgbClr val="000000">
                <a:alpha val="18000"/>
              </a:srgbClr>
            </a:outerShdw>
          </a:effectLst>
        </p:spPr>
      </p:sp>
      <p:pic>
        <p:nvPicPr>
          <p:cNvPr id="9" name="Image 0" descr="/home/claude/dashboard_excel.png"/>
          <p:cNvPicPr>
            <a:picLocks noChangeAspect="1"/>
          </p:cNvPicPr>
          <p:nvPr/>
        </p:nvPicPr>
        <p:blipFill>
          <a:blip r:embed="rId3"/>
          <a:stretch>
            <a:fillRect/>
          </a:stretch>
        </p:blipFill>
        <p:spPr>
          <a:xfrm>
            <a:off x="292608" y="1042416"/>
            <a:ext cx="8558784" cy="3767328"/>
          </a:xfrm>
          <a:prstGeom prst="rect">
            <a:avLst/>
          </a:prstGeom>
        </p:spPr>
      </p:pic>
      <p:sp>
        <p:nvSpPr>
          <p:cNvPr id="10" name="Shape 7"/>
          <p:cNvSpPr/>
          <p:nvPr/>
        </p:nvSpPr>
        <p:spPr>
          <a:xfrm>
            <a:off x="384048" y="4462272"/>
            <a:ext cx="1965960" cy="548640"/>
          </a:xfrm>
          <a:prstGeom prst="roundRect">
            <a:avLst>
              <a:gd name="adj" fmla="val 13333"/>
            </a:avLst>
          </a:prstGeom>
          <a:solidFill>
            <a:srgbClr val="0D1B3E">
              <a:alpha val="90000"/>
            </a:srgbClr>
          </a:solidFill>
          <a:ln w="12700">
            <a:solidFill>
              <a:srgbClr val="00897B"/>
            </a:solidFill>
            <a:prstDash val="solid"/>
          </a:ln>
        </p:spPr>
      </p:sp>
      <p:sp>
        <p:nvSpPr>
          <p:cNvPr id="11" name="Text 8"/>
          <p:cNvSpPr/>
          <p:nvPr/>
        </p:nvSpPr>
        <p:spPr>
          <a:xfrm>
            <a:off x="384048" y="4462272"/>
            <a:ext cx="1965960" cy="548640"/>
          </a:xfrm>
          <a:prstGeom prst="rect">
            <a:avLst/>
          </a:prstGeom>
          <a:noFill/>
          <a:ln/>
        </p:spPr>
        <p:txBody>
          <a:bodyPr wrap="square" rtlCol="0" anchor="ctr"/>
          <a:lstStyle/>
          <a:p>
            <a:pPr marL="0" indent="0" algn="ctr">
              <a:buNone/>
            </a:pPr>
            <a:r>
              <a:rPr lang="en-US" sz="1000" b="1" dirty="0">
                <a:solidFill>
                  <a:srgbClr val="FFFFFF"/>
                </a:solidFill>
              </a:rPr>
              <a:t>Load Factor % by Year</a:t>
            </a:r>
            <a:endParaRPr lang="en-US" sz="1000" dirty="0"/>
          </a:p>
        </p:txBody>
      </p:sp>
      <p:sp>
        <p:nvSpPr>
          <p:cNvPr id="12" name="Shape 9"/>
          <p:cNvSpPr/>
          <p:nvPr/>
        </p:nvSpPr>
        <p:spPr>
          <a:xfrm>
            <a:off x="2523744" y="4462272"/>
            <a:ext cx="1965960" cy="548640"/>
          </a:xfrm>
          <a:prstGeom prst="roundRect">
            <a:avLst>
              <a:gd name="adj" fmla="val 13333"/>
            </a:avLst>
          </a:prstGeom>
          <a:solidFill>
            <a:srgbClr val="0D1B3E">
              <a:alpha val="90000"/>
            </a:srgbClr>
          </a:solidFill>
          <a:ln w="12700">
            <a:solidFill>
              <a:srgbClr val="00897B"/>
            </a:solidFill>
            <a:prstDash val="solid"/>
          </a:ln>
        </p:spPr>
      </p:sp>
      <p:sp>
        <p:nvSpPr>
          <p:cNvPr id="13" name="Text 10"/>
          <p:cNvSpPr/>
          <p:nvPr/>
        </p:nvSpPr>
        <p:spPr>
          <a:xfrm>
            <a:off x="2523744" y="4462272"/>
            <a:ext cx="1965960" cy="548640"/>
          </a:xfrm>
          <a:prstGeom prst="rect">
            <a:avLst/>
          </a:prstGeom>
          <a:noFill/>
          <a:ln/>
        </p:spPr>
        <p:txBody>
          <a:bodyPr wrap="square" rtlCol="0" anchor="ctr"/>
          <a:lstStyle/>
          <a:p>
            <a:pPr marL="0" indent="0" algn="ctr">
              <a:buNone/>
            </a:pPr>
            <a:r>
              <a:rPr lang="en-US" sz="1000" b="1" dirty="0">
                <a:solidFill>
                  <a:srgbClr val="FFFFFF"/>
                </a:solidFill>
              </a:rPr>
              <a:t>Flights by Distance Group</a:t>
            </a:r>
            <a:endParaRPr lang="en-US" sz="1000" dirty="0"/>
          </a:p>
        </p:txBody>
      </p:sp>
      <p:sp>
        <p:nvSpPr>
          <p:cNvPr id="14" name="Shape 11"/>
          <p:cNvSpPr/>
          <p:nvPr/>
        </p:nvSpPr>
        <p:spPr>
          <a:xfrm>
            <a:off x="4663440" y="4462272"/>
            <a:ext cx="1965960" cy="548640"/>
          </a:xfrm>
          <a:prstGeom prst="roundRect">
            <a:avLst>
              <a:gd name="adj" fmla="val 13333"/>
            </a:avLst>
          </a:prstGeom>
          <a:solidFill>
            <a:srgbClr val="0D1B3E">
              <a:alpha val="90000"/>
            </a:srgbClr>
          </a:solidFill>
          <a:ln w="12700">
            <a:solidFill>
              <a:srgbClr val="00897B"/>
            </a:solidFill>
            <a:prstDash val="solid"/>
          </a:ln>
        </p:spPr>
      </p:sp>
      <p:sp>
        <p:nvSpPr>
          <p:cNvPr id="15" name="Text 12"/>
          <p:cNvSpPr/>
          <p:nvPr/>
        </p:nvSpPr>
        <p:spPr>
          <a:xfrm>
            <a:off x="4663440" y="4462272"/>
            <a:ext cx="1965960" cy="548640"/>
          </a:xfrm>
          <a:prstGeom prst="rect">
            <a:avLst/>
          </a:prstGeom>
          <a:noFill/>
          <a:ln/>
        </p:spPr>
        <p:txBody>
          <a:bodyPr wrap="square" rtlCol="0" anchor="ctr"/>
          <a:lstStyle/>
          <a:p>
            <a:pPr marL="0" indent="0" algn="ctr">
              <a:buNone/>
            </a:pPr>
            <a:r>
              <a:rPr lang="en-US" sz="1000" b="1" dirty="0">
                <a:solidFill>
                  <a:srgbClr val="FFFFFF"/>
                </a:solidFill>
              </a:rPr>
              <a:t>Top N Carriers</a:t>
            </a:r>
            <a:endParaRPr lang="en-US" sz="1000" dirty="0"/>
          </a:p>
        </p:txBody>
      </p:sp>
      <p:sp>
        <p:nvSpPr>
          <p:cNvPr id="16" name="Shape 13"/>
          <p:cNvSpPr/>
          <p:nvPr/>
        </p:nvSpPr>
        <p:spPr>
          <a:xfrm>
            <a:off x="6803136" y="4462272"/>
            <a:ext cx="1965960" cy="548640"/>
          </a:xfrm>
          <a:prstGeom prst="roundRect">
            <a:avLst>
              <a:gd name="adj" fmla="val 13333"/>
            </a:avLst>
          </a:prstGeom>
          <a:solidFill>
            <a:srgbClr val="0D1B3E">
              <a:alpha val="90000"/>
            </a:srgbClr>
          </a:solidFill>
          <a:ln w="12700">
            <a:solidFill>
              <a:srgbClr val="00897B"/>
            </a:solidFill>
            <a:prstDash val="solid"/>
          </a:ln>
        </p:spPr>
      </p:sp>
      <p:sp>
        <p:nvSpPr>
          <p:cNvPr id="17" name="Text 14"/>
          <p:cNvSpPr/>
          <p:nvPr/>
        </p:nvSpPr>
        <p:spPr>
          <a:xfrm>
            <a:off x="6803136" y="4462272"/>
            <a:ext cx="1965960" cy="548640"/>
          </a:xfrm>
          <a:prstGeom prst="rect">
            <a:avLst/>
          </a:prstGeom>
          <a:noFill/>
          <a:ln/>
        </p:spPr>
        <p:txBody>
          <a:bodyPr wrap="square" rtlCol="0" anchor="ctr"/>
          <a:lstStyle/>
          <a:p>
            <a:pPr marL="0" indent="0" algn="ctr">
              <a:buNone/>
            </a:pPr>
            <a:r>
              <a:rPr lang="en-US" sz="1000" b="1" dirty="0">
                <a:solidFill>
                  <a:srgbClr val="FFFFFF"/>
                </a:solidFill>
              </a:rPr>
              <a:t>Weekend vs Weekday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0"/>
            <a:ext cx="164592" cy="914400"/>
          </a:xfrm>
          <a:prstGeom prst="rect">
            <a:avLst/>
          </a:prstGeom>
          <a:solidFill>
            <a:srgbClr val="F9A825"/>
          </a:solidFill>
          <a:ln w="12700">
            <a:solidFill>
              <a:srgbClr val="F9A825"/>
            </a:solidFill>
            <a:prstDash val="solid"/>
          </a:ln>
        </p:spPr>
      </p:sp>
      <p:sp>
        <p:nvSpPr>
          <p:cNvPr id="4" name="Shape 2"/>
          <p:cNvSpPr/>
          <p:nvPr/>
        </p:nvSpPr>
        <p:spPr>
          <a:xfrm>
            <a:off x="320040" y="109728"/>
            <a:ext cx="914400" cy="320040"/>
          </a:xfrm>
          <a:prstGeom prst="roundRect">
            <a:avLst>
              <a:gd name="adj" fmla="val 17143"/>
            </a:avLst>
          </a:prstGeom>
          <a:solidFill>
            <a:srgbClr val="00ACC1"/>
          </a:solidFill>
          <a:ln w="12700">
            <a:solidFill>
              <a:srgbClr val="00ACC1"/>
            </a:solidFill>
            <a:prstDash val="solid"/>
          </a:ln>
        </p:spPr>
      </p:sp>
      <p:sp>
        <p:nvSpPr>
          <p:cNvPr id="5" name="Text 3"/>
          <p:cNvSpPr/>
          <p:nvPr/>
        </p:nvSpPr>
        <p:spPr>
          <a:xfrm>
            <a:off x="320040" y="109728"/>
            <a:ext cx="914400" cy="320040"/>
          </a:xfrm>
          <a:prstGeom prst="rect">
            <a:avLst/>
          </a:prstGeom>
          <a:noFill/>
          <a:ln/>
        </p:spPr>
        <p:txBody>
          <a:bodyPr wrap="square" rtlCol="0" anchor="ctr"/>
          <a:lstStyle/>
          <a:p>
            <a:pPr marL="0" indent="0" algn="ctr">
              <a:buNone/>
            </a:pPr>
            <a:r>
              <a:rPr lang="en-US" sz="850" b="1" dirty="0">
                <a:solidFill>
                  <a:srgbClr val="FFFFFF"/>
                </a:solidFill>
              </a:rPr>
              <a:t>TABLEAU</a:t>
            </a:r>
            <a:endParaRPr lang="en-US" sz="850" dirty="0"/>
          </a:p>
        </p:txBody>
      </p:sp>
      <p:sp>
        <p:nvSpPr>
          <p:cNvPr id="6" name="Text 4"/>
          <p:cNvSpPr/>
          <p:nvPr/>
        </p:nvSpPr>
        <p:spPr>
          <a:xfrm>
            <a:off x="1325880" y="73152"/>
            <a:ext cx="7315200" cy="457200"/>
          </a:xfrm>
          <a:prstGeom prst="rect">
            <a:avLst/>
          </a:prstGeom>
          <a:noFill/>
          <a:ln/>
        </p:spPr>
        <p:txBody>
          <a:bodyPr wrap="square" rtlCol="0" anchor="ctr"/>
          <a:lstStyle/>
          <a:p>
            <a:pPr marL="0" indent="0">
              <a:buNone/>
            </a:pPr>
            <a:r>
              <a:rPr lang="en-US" sz="2200" b="1" dirty="0">
                <a:solidFill>
                  <a:srgbClr val="FFFFFF"/>
                </a:solidFill>
              </a:rPr>
              <a:t>High Cloud Airline Analysis</a:t>
            </a:r>
            <a:endParaRPr lang="en-US" sz="2200" dirty="0"/>
          </a:p>
        </p:txBody>
      </p:sp>
      <p:sp>
        <p:nvSpPr>
          <p:cNvPr id="7" name="Text 5"/>
          <p:cNvSpPr/>
          <p:nvPr/>
        </p:nvSpPr>
        <p:spPr>
          <a:xfrm>
            <a:off x="1325880" y="548640"/>
            <a:ext cx="7772400" cy="292608"/>
          </a:xfrm>
          <a:prstGeom prst="rect">
            <a:avLst/>
          </a:prstGeom>
          <a:noFill/>
          <a:ln/>
        </p:spPr>
        <p:txBody>
          <a:bodyPr wrap="square" rtlCol="0" anchor="ctr"/>
          <a:lstStyle/>
          <a:p>
            <a:pPr marL="0" indent="0">
              <a:buNone/>
            </a:pPr>
            <a:r>
              <a:rPr lang="en-US" sz="1000" dirty="0">
                <a:solidFill>
                  <a:srgbClr val="42A5F5"/>
                </a:solidFill>
              </a:rPr>
              <a:t>Carrier rankings · Load factor trend · Flights by distance · Top routes (city pairs) · Weekday vs weekend split</a:t>
            </a:r>
            <a:endParaRPr lang="en-US" sz="1000" dirty="0"/>
          </a:p>
        </p:txBody>
      </p:sp>
      <p:sp>
        <p:nvSpPr>
          <p:cNvPr id="8" name="Shape 6"/>
          <p:cNvSpPr/>
          <p:nvPr/>
        </p:nvSpPr>
        <p:spPr>
          <a:xfrm>
            <a:off x="256032" y="1005840"/>
            <a:ext cx="8631936" cy="3840480"/>
          </a:xfrm>
          <a:prstGeom prst="rect">
            <a:avLst/>
          </a:prstGeom>
          <a:solidFill>
            <a:srgbClr val="000000"/>
          </a:solidFill>
          <a:ln w="12700">
            <a:solidFill>
              <a:srgbClr val="00ACC1"/>
            </a:solidFill>
            <a:prstDash val="solid"/>
          </a:ln>
          <a:effectLst>
            <a:outerShdw blurRad="127000" dist="50800" dir="8100000" algn="bl" rotWithShape="0">
              <a:srgbClr val="000000">
                <a:alpha val="18000"/>
              </a:srgbClr>
            </a:outerShdw>
          </a:effectLst>
        </p:spPr>
      </p:sp>
      <p:pic>
        <p:nvPicPr>
          <p:cNvPr id="9" name="Image 0" descr="/home/claude/dashboard_tableau.png"/>
          <p:cNvPicPr>
            <a:picLocks noChangeAspect="1"/>
          </p:cNvPicPr>
          <p:nvPr/>
        </p:nvPicPr>
        <p:blipFill>
          <a:blip r:embed="rId3"/>
          <a:stretch>
            <a:fillRect/>
          </a:stretch>
        </p:blipFill>
        <p:spPr>
          <a:xfrm>
            <a:off x="292608" y="1042416"/>
            <a:ext cx="8558784" cy="3767328"/>
          </a:xfrm>
          <a:prstGeom prst="rect">
            <a:avLst/>
          </a:prstGeom>
        </p:spPr>
      </p:pic>
      <p:sp>
        <p:nvSpPr>
          <p:cNvPr id="10" name="Shape 7"/>
          <p:cNvSpPr/>
          <p:nvPr/>
        </p:nvSpPr>
        <p:spPr>
          <a:xfrm>
            <a:off x="384048" y="4462272"/>
            <a:ext cx="1965960" cy="548640"/>
          </a:xfrm>
          <a:prstGeom prst="roundRect">
            <a:avLst>
              <a:gd name="adj" fmla="val 13333"/>
            </a:avLst>
          </a:prstGeom>
          <a:solidFill>
            <a:srgbClr val="0D1B3E">
              <a:alpha val="90000"/>
            </a:srgbClr>
          </a:solidFill>
          <a:ln w="12700">
            <a:solidFill>
              <a:srgbClr val="00ACC1"/>
            </a:solidFill>
            <a:prstDash val="solid"/>
          </a:ln>
        </p:spPr>
      </p:sp>
      <p:sp>
        <p:nvSpPr>
          <p:cNvPr id="11" name="Text 8"/>
          <p:cNvSpPr/>
          <p:nvPr/>
        </p:nvSpPr>
        <p:spPr>
          <a:xfrm>
            <a:off x="384048" y="4462272"/>
            <a:ext cx="1965960" cy="548640"/>
          </a:xfrm>
          <a:prstGeom prst="rect">
            <a:avLst/>
          </a:prstGeom>
          <a:noFill/>
          <a:ln/>
        </p:spPr>
        <p:txBody>
          <a:bodyPr wrap="square" rtlCol="0" anchor="ctr"/>
          <a:lstStyle/>
          <a:p>
            <a:pPr marL="0" indent="0" algn="ctr">
              <a:buNone/>
            </a:pPr>
            <a:r>
              <a:rPr lang="en-US" sz="1000" b="1" dirty="0">
                <a:solidFill>
                  <a:srgbClr val="FFFFFF"/>
                </a:solidFill>
              </a:rPr>
              <a:t>Load Factor Trend</a:t>
            </a:r>
            <a:endParaRPr lang="en-US" sz="1000" dirty="0"/>
          </a:p>
        </p:txBody>
      </p:sp>
      <p:sp>
        <p:nvSpPr>
          <p:cNvPr id="12" name="Shape 9"/>
          <p:cNvSpPr/>
          <p:nvPr/>
        </p:nvSpPr>
        <p:spPr>
          <a:xfrm>
            <a:off x="2523744" y="4462272"/>
            <a:ext cx="1965960" cy="548640"/>
          </a:xfrm>
          <a:prstGeom prst="roundRect">
            <a:avLst>
              <a:gd name="adj" fmla="val 13333"/>
            </a:avLst>
          </a:prstGeom>
          <a:solidFill>
            <a:srgbClr val="0D1B3E">
              <a:alpha val="90000"/>
            </a:srgbClr>
          </a:solidFill>
          <a:ln w="12700">
            <a:solidFill>
              <a:srgbClr val="00ACC1"/>
            </a:solidFill>
            <a:prstDash val="solid"/>
          </a:ln>
        </p:spPr>
      </p:sp>
      <p:sp>
        <p:nvSpPr>
          <p:cNvPr id="13" name="Text 10"/>
          <p:cNvSpPr/>
          <p:nvPr/>
        </p:nvSpPr>
        <p:spPr>
          <a:xfrm>
            <a:off x="2523744" y="4462272"/>
            <a:ext cx="1965960" cy="548640"/>
          </a:xfrm>
          <a:prstGeom prst="rect">
            <a:avLst/>
          </a:prstGeom>
          <a:noFill/>
          <a:ln/>
        </p:spPr>
        <p:txBody>
          <a:bodyPr wrap="square" rtlCol="0" anchor="ctr"/>
          <a:lstStyle/>
          <a:p>
            <a:pPr marL="0" indent="0" algn="ctr">
              <a:buNone/>
            </a:pPr>
            <a:r>
              <a:rPr lang="en-US" sz="1000" b="1" dirty="0">
                <a:solidFill>
                  <a:srgbClr val="FFFFFF"/>
                </a:solidFill>
              </a:rPr>
              <a:t>Top 10 Carriers by Passengers</a:t>
            </a:r>
            <a:endParaRPr lang="en-US" sz="1000" dirty="0"/>
          </a:p>
        </p:txBody>
      </p:sp>
      <p:sp>
        <p:nvSpPr>
          <p:cNvPr id="14" name="Shape 11"/>
          <p:cNvSpPr/>
          <p:nvPr/>
        </p:nvSpPr>
        <p:spPr>
          <a:xfrm>
            <a:off x="4663440" y="4462272"/>
            <a:ext cx="1965960" cy="548640"/>
          </a:xfrm>
          <a:prstGeom prst="roundRect">
            <a:avLst>
              <a:gd name="adj" fmla="val 13333"/>
            </a:avLst>
          </a:prstGeom>
          <a:solidFill>
            <a:srgbClr val="0D1B3E">
              <a:alpha val="90000"/>
            </a:srgbClr>
          </a:solidFill>
          <a:ln w="12700">
            <a:solidFill>
              <a:srgbClr val="00ACC1"/>
            </a:solidFill>
            <a:prstDash val="solid"/>
          </a:ln>
        </p:spPr>
      </p:sp>
      <p:sp>
        <p:nvSpPr>
          <p:cNvPr id="15" name="Text 12"/>
          <p:cNvSpPr/>
          <p:nvPr/>
        </p:nvSpPr>
        <p:spPr>
          <a:xfrm>
            <a:off x="4663440" y="4462272"/>
            <a:ext cx="1965960" cy="548640"/>
          </a:xfrm>
          <a:prstGeom prst="rect">
            <a:avLst/>
          </a:prstGeom>
          <a:noFill/>
          <a:ln/>
        </p:spPr>
        <p:txBody>
          <a:bodyPr wrap="square" rtlCol="0" anchor="ctr"/>
          <a:lstStyle/>
          <a:p>
            <a:pPr marL="0" indent="0" algn="ctr">
              <a:buNone/>
            </a:pPr>
            <a:r>
              <a:rPr lang="en-US" sz="1000" b="1" dirty="0">
                <a:solidFill>
                  <a:srgbClr val="FFFFFF"/>
                </a:solidFill>
              </a:rPr>
              <a:t>Top Routes (City Pairs)</a:t>
            </a:r>
            <a:endParaRPr lang="en-US" sz="1000" dirty="0"/>
          </a:p>
        </p:txBody>
      </p:sp>
      <p:sp>
        <p:nvSpPr>
          <p:cNvPr id="16" name="Shape 13"/>
          <p:cNvSpPr/>
          <p:nvPr/>
        </p:nvSpPr>
        <p:spPr>
          <a:xfrm>
            <a:off x="6803136" y="4462272"/>
            <a:ext cx="1965960" cy="548640"/>
          </a:xfrm>
          <a:prstGeom prst="roundRect">
            <a:avLst>
              <a:gd name="adj" fmla="val 13333"/>
            </a:avLst>
          </a:prstGeom>
          <a:solidFill>
            <a:srgbClr val="0D1B3E">
              <a:alpha val="90000"/>
            </a:srgbClr>
          </a:solidFill>
          <a:ln w="12700">
            <a:solidFill>
              <a:srgbClr val="00ACC1"/>
            </a:solidFill>
            <a:prstDash val="solid"/>
          </a:ln>
        </p:spPr>
      </p:sp>
      <p:sp>
        <p:nvSpPr>
          <p:cNvPr id="17" name="Text 14"/>
          <p:cNvSpPr/>
          <p:nvPr/>
        </p:nvSpPr>
        <p:spPr>
          <a:xfrm>
            <a:off x="6803136" y="4462272"/>
            <a:ext cx="1965960" cy="548640"/>
          </a:xfrm>
          <a:prstGeom prst="rect">
            <a:avLst/>
          </a:prstGeom>
          <a:noFill/>
          <a:ln/>
        </p:spPr>
        <p:txBody>
          <a:bodyPr wrap="square" rtlCol="0" anchor="ctr"/>
          <a:lstStyle/>
          <a:p>
            <a:pPr marL="0" indent="0" algn="ctr">
              <a:buNone/>
            </a:pPr>
            <a:r>
              <a:rPr lang="en-US" sz="1000" b="1" dirty="0">
                <a:solidFill>
                  <a:srgbClr val="FFFFFF"/>
                </a:solidFill>
              </a:rPr>
              <a:t>Weekday vs Weekend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0"/>
            <a:ext cx="164592" cy="914400"/>
          </a:xfrm>
          <a:prstGeom prst="rect">
            <a:avLst/>
          </a:prstGeom>
          <a:solidFill>
            <a:srgbClr val="F9A825"/>
          </a:solidFill>
          <a:ln w="12700">
            <a:solidFill>
              <a:srgbClr val="F9A825"/>
            </a:solidFill>
            <a:prstDash val="solid"/>
          </a:ln>
        </p:spPr>
      </p:sp>
      <p:sp>
        <p:nvSpPr>
          <p:cNvPr id="4" name="Text 2"/>
          <p:cNvSpPr/>
          <p:nvPr/>
        </p:nvSpPr>
        <p:spPr>
          <a:xfrm>
            <a:off x="320040" y="0"/>
            <a:ext cx="8229600" cy="914400"/>
          </a:xfrm>
          <a:prstGeom prst="rect">
            <a:avLst/>
          </a:prstGeom>
          <a:noFill/>
          <a:ln/>
        </p:spPr>
        <p:txBody>
          <a:bodyPr wrap="square" rtlCol="0" anchor="ctr"/>
          <a:lstStyle/>
          <a:p>
            <a:pPr marL="0" indent="0">
              <a:buNone/>
            </a:pPr>
            <a:r>
              <a:rPr lang="en-US" sz="2600" b="1" dirty="0">
                <a:solidFill>
                  <a:srgbClr val="FFFFFF"/>
                </a:solidFill>
              </a:rPr>
              <a:t>Tableau Dashboard</a:t>
            </a:r>
            <a:endParaRPr lang="en-US" sz="2600" dirty="0"/>
          </a:p>
        </p:txBody>
      </p:sp>
      <p:sp>
        <p:nvSpPr>
          <p:cNvPr id="5" name="Shape 3"/>
          <p:cNvSpPr/>
          <p:nvPr/>
        </p:nvSpPr>
        <p:spPr>
          <a:xfrm>
            <a:off x="365760" y="1143000"/>
            <a:ext cx="4206240" cy="178308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6" name="Shape 4"/>
          <p:cNvSpPr/>
          <p:nvPr/>
        </p:nvSpPr>
        <p:spPr>
          <a:xfrm>
            <a:off x="365760" y="1143000"/>
            <a:ext cx="4206240" cy="64008"/>
          </a:xfrm>
          <a:prstGeom prst="rect">
            <a:avLst/>
          </a:prstGeom>
          <a:solidFill>
            <a:srgbClr val="1565C0"/>
          </a:solidFill>
          <a:ln w="12700">
            <a:solidFill>
              <a:srgbClr val="1565C0"/>
            </a:solidFill>
            <a:prstDash val="solid"/>
          </a:ln>
        </p:spPr>
      </p:sp>
      <p:sp>
        <p:nvSpPr>
          <p:cNvPr id="7" name="Shape 5"/>
          <p:cNvSpPr/>
          <p:nvPr/>
        </p:nvSpPr>
        <p:spPr>
          <a:xfrm>
            <a:off x="530352" y="1344168"/>
            <a:ext cx="502920" cy="502920"/>
          </a:xfrm>
          <a:prstGeom prst="ellipse">
            <a:avLst/>
          </a:prstGeom>
          <a:solidFill>
            <a:srgbClr val="1565C0"/>
          </a:solidFill>
          <a:ln w="12700">
            <a:solidFill>
              <a:srgbClr val="1565C0"/>
            </a:solidFill>
            <a:prstDash val="solid"/>
          </a:ln>
        </p:spPr>
      </p:sp>
      <p:sp>
        <p:nvSpPr>
          <p:cNvPr id="8" name="Text 6"/>
          <p:cNvSpPr/>
          <p:nvPr/>
        </p:nvSpPr>
        <p:spPr>
          <a:xfrm>
            <a:off x="530352" y="1344168"/>
            <a:ext cx="502920" cy="50292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9" name="Text 7"/>
          <p:cNvSpPr/>
          <p:nvPr/>
        </p:nvSpPr>
        <p:spPr>
          <a:xfrm>
            <a:off x="1143000" y="1344168"/>
            <a:ext cx="3291840" cy="411480"/>
          </a:xfrm>
          <a:prstGeom prst="rect">
            <a:avLst/>
          </a:prstGeom>
          <a:noFill/>
          <a:ln/>
        </p:spPr>
        <p:txBody>
          <a:bodyPr wrap="square" rtlCol="0" anchor="ctr"/>
          <a:lstStyle/>
          <a:p>
            <a:pPr marL="0" indent="0">
              <a:buNone/>
            </a:pPr>
            <a:r>
              <a:rPr lang="en-US" sz="1250" b="1" dirty="0">
                <a:solidFill>
                  <a:srgbClr val="1E293B"/>
                </a:solidFill>
              </a:rPr>
              <a:t>Geographic Map</a:t>
            </a:r>
            <a:endParaRPr lang="en-US" sz="1250" dirty="0"/>
          </a:p>
        </p:txBody>
      </p:sp>
      <p:sp>
        <p:nvSpPr>
          <p:cNvPr id="10" name="Text 8"/>
          <p:cNvSpPr/>
          <p:nvPr/>
        </p:nvSpPr>
        <p:spPr>
          <a:xfrm>
            <a:off x="530352" y="1920240"/>
            <a:ext cx="3840480" cy="868680"/>
          </a:xfrm>
          <a:prstGeom prst="rect">
            <a:avLst/>
          </a:prstGeom>
          <a:noFill/>
          <a:ln/>
        </p:spPr>
        <p:txBody>
          <a:bodyPr wrap="square" rtlCol="0" anchor="ctr"/>
          <a:lstStyle/>
          <a:p>
            <a:pPr marL="0" indent="0">
              <a:lnSpc>
                <a:spcPct val="130000"/>
              </a:lnSpc>
              <a:buNone/>
            </a:pPr>
            <a:r>
              <a:rPr lang="en-US" sz="1100" dirty="0">
                <a:solidFill>
                  <a:srgbClr val="64748B"/>
                </a:solidFill>
              </a:rPr>
              <a:t>Route density visualised on an interactive U.S. map with origin–destination overlays</a:t>
            </a:r>
            <a:endParaRPr lang="en-US" sz="1100" dirty="0"/>
          </a:p>
        </p:txBody>
      </p:sp>
      <p:sp>
        <p:nvSpPr>
          <p:cNvPr id="11" name="Shape 9"/>
          <p:cNvSpPr/>
          <p:nvPr/>
        </p:nvSpPr>
        <p:spPr>
          <a:xfrm>
            <a:off x="4800600" y="1143000"/>
            <a:ext cx="4206240" cy="178308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2" name="Shape 10"/>
          <p:cNvSpPr/>
          <p:nvPr/>
        </p:nvSpPr>
        <p:spPr>
          <a:xfrm>
            <a:off x="4800600" y="1143000"/>
            <a:ext cx="4206240" cy="64008"/>
          </a:xfrm>
          <a:prstGeom prst="rect">
            <a:avLst/>
          </a:prstGeom>
          <a:solidFill>
            <a:srgbClr val="00897B"/>
          </a:solidFill>
          <a:ln w="12700">
            <a:solidFill>
              <a:srgbClr val="00897B"/>
            </a:solidFill>
            <a:prstDash val="solid"/>
          </a:ln>
        </p:spPr>
      </p:sp>
      <p:sp>
        <p:nvSpPr>
          <p:cNvPr id="13" name="Shape 11"/>
          <p:cNvSpPr/>
          <p:nvPr/>
        </p:nvSpPr>
        <p:spPr>
          <a:xfrm>
            <a:off x="4965192" y="1344168"/>
            <a:ext cx="502920" cy="502920"/>
          </a:xfrm>
          <a:prstGeom prst="ellipse">
            <a:avLst/>
          </a:prstGeom>
          <a:solidFill>
            <a:srgbClr val="00897B"/>
          </a:solidFill>
          <a:ln w="12700">
            <a:solidFill>
              <a:srgbClr val="00897B"/>
            </a:solidFill>
            <a:prstDash val="solid"/>
          </a:ln>
        </p:spPr>
      </p:sp>
      <p:sp>
        <p:nvSpPr>
          <p:cNvPr id="14" name="Text 12"/>
          <p:cNvSpPr/>
          <p:nvPr/>
        </p:nvSpPr>
        <p:spPr>
          <a:xfrm>
            <a:off x="4965192" y="1344168"/>
            <a:ext cx="502920" cy="50292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5577840" y="1344168"/>
            <a:ext cx="3291840" cy="411480"/>
          </a:xfrm>
          <a:prstGeom prst="rect">
            <a:avLst/>
          </a:prstGeom>
          <a:noFill/>
          <a:ln/>
        </p:spPr>
        <p:txBody>
          <a:bodyPr wrap="square" rtlCol="0" anchor="ctr"/>
          <a:lstStyle/>
          <a:p>
            <a:pPr marL="0" indent="0">
              <a:buNone/>
            </a:pPr>
            <a:r>
              <a:rPr lang="en-US" sz="1250" b="1" dirty="0">
                <a:solidFill>
                  <a:srgbClr val="1E293B"/>
                </a:solidFill>
              </a:rPr>
              <a:t>Carrier Comparison</a:t>
            </a:r>
            <a:endParaRPr lang="en-US" sz="1250" dirty="0"/>
          </a:p>
        </p:txBody>
      </p:sp>
      <p:sp>
        <p:nvSpPr>
          <p:cNvPr id="16" name="Text 14"/>
          <p:cNvSpPr/>
          <p:nvPr/>
        </p:nvSpPr>
        <p:spPr>
          <a:xfrm>
            <a:off x="4965192" y="1920240"/>
            <a:ext cx="3840480" cy="868680"/>
          </a:xfrm>
          <a:prstGeom prst="rect">
            <a:avLst/>
          </a:prstGeom>
          <a:noFill/>
          <a:ln/>
        </p:spPr>
        <p:txBody>
          <a:bodyPr wrap="square" rtlCol="0" anchor="ctr"/>
          <a:lstStyle/>
          <a:p>
            <a:pPr marL="0" indent="0">
              <a:lnSpc>
                <a:spcPct val="130000"/>
              </a:lnSpc>
              <a:buNone/>
            </a:pPr>
            <a:r>
              <a:rPr lang="en-US" sz="1100" dirty="0">
                <a:solidFill>
                  <a:srgbClr val="64748B"/>
                </a:solidFill>
              </a:rPr>
              <a:t>Side-by-side bar and scatter charts comparing load factor vs. flight volume across carriers</a:t>
            </a:r>
            <a:endParaRPr lang="en-US" sz="1100" dirty="0"/>
          </a:p>
        </p:txBody>
      </p:sp>
      <p:sp>
        <p:nvSpPr>
          <p:cNvPr id="17" name="Shape 15"/>
          <p:cNvSpPr/>
          <p:nvPr/>
        </p:nvSpPr>
        <p:spPr>
          <a:xfrm>
            <a:off x="365760" y="3108960"/>
            <a:ext cx="4206240" cy="178308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8" name="Shape 16"/>
          <p:cNvSpPr/>
          <p:nvPr/>
        </p:nvSpPr>
        <p:spPr>
          <a:xfrm>
            <a:off x="365760" y="3108960"/>
            <a:ext cx="4206240" cy="64008"/>
          </a:xfrm>
          <a:prstGeom prst="rect">
            <a:avLst/>
          </a:prstGeom>
          <a:solidFill>
            <a:srgbClr val="00ACC1"/>
          </a:solidFill>
          <a:ln w="12700">
            <a:solidFill>
              <a:srgbClr val="00ACC1"/>
            </a:solidFill>
            <a:prstDash val="solid"/>
          </a:ln>
        </p:spPr>
      </p:sp>
      <p:sp>
        <p:nvSpPr>
          <p:cNvPr id="19" name="Shape 17"/>
          <p:cNvSpPr/>
          <p:nvPr/>
        </p:nvSpPr>
        <p:spPr>
          <a:xfrm>
            <a:off x="530352" y="3310128"/>
            <a:ext cx="502920" cy="502920"/>
          </a:xfrm>
          <a:prstGeom prst="ellipse">
            <a:avLst/>
          </a:prstGeom>
          <a:solidFill>
            <a:srgbClr val="00ACC1"/>
          </a:solidFill>
          <a:ln w="12700">
            <a:solidFill>
              <a:srgbClr val="00ACC1"/>
            </a:solidFill>
            <a:prstDash val="solid"/>
          </a:ln>
        </p:spPr>
      </p:sp>
      <p:sp>
        <p:nvSpPr>
          <p:cNvPr id="20" name="Text 18"/>
          <p:cNvSpPr/>
          <p:nvPr/>
        </p:nvSpPr>
        <p:spPr>
          <a:xfrm>
            <a:off x="530352" y="3310128"/>
            <a:ext cx="502920" cy="50292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1" name="Text 19"/>
          <p:cNvSpPr/>
          <p:nvPr/>
        </p:nvSpPr>
        <p:spPr>
          <a:xfrm>
            <a:off x="1143000" y="3310128"/>
            <a:ext cx="3291840" cy="411480"/>
          </a:xfrm>
          <a:prstGeom prst="rect">
            <a:avLst/>
          </a:prstGeom>
          <a:noFill/>
          <a:ln/>
        </p:spPr>
        <p:txBody>
          <a:bodyPr wrap="square" rtlCol="0" anchor="ctr"/>
          <a:lstStyle/>
          <a:p>
            <a:pPr marL="0" indent="0">
              <a:buNone/>
            </a:pPr>
            <a:r>
              <a:rPr lang="en-US" sz="1250" b="1" dirty="0">
                <a:solidFill>
                  <a:srgbClr val="1E293B"/>
                </a:solidFill>
              </a:rPr>
              <a:t>Time Series</a:t>
            </a:r>
            <a:endParaRPr lang="en-US" sz="1250" dirty="0"/>
          </a:p>
        </p:txBody>
      </p:sp>
      <p:sp>
        <p:nvSpPr>
          <p:cNvPr id="22" name="Text 20"/>
          <p:cNvSpPr/>
          <p:nvPr/>
        </p:nvSpPr>
        <p:spPr>
          <a:xfrm>
            <a:off x="530352" y="3886200"/>
            <a:ext cx="3840480" cy="868680"/>
          </a:xfrm>
          <a:prstGeom prst="rect">
            <a:avLst/>
          </a:prstGeom>
          <a:noFill/>
          <a:ln/>
        </p:spPr>
        <p:txBody>
          <a:bodyPr wrap="square" rtlCol="0" anchor="ctr"/>
          <a:lstStyle/>
          <a:p>
            <a:pPr marL="0" indent="0">
              <a:lnSpc>
                <a:spcPct val="130000"/>
              </a:lnSpc>
              <a:buNone/>
            </a:pPr>
            <a:r>
              <a:rPr lang="en-US" sz="1100" dirty="0">
                <a:solidFill>
                  <a:srgbClr val="64748B"/>
                </a:solidFill>
              </a:rPr>
              <a:t>Animated trend lines showing passenger growth and seasonal peaks over multiple years</a:t>
            </a:r>
            <a:endParaRPr lang="en-US" sz="1100" dirty="0"/>
          </a:p>
        </p:txBody>
      </p:sp>
      <p:sp>
        <p:nvSpPr>
          <p:cNvPr id="23" name="Shape 21"/>
          <p:cNvSpPr/>
          <p:nvPr/>
        </p:nvSpPr>
        <p:spPr>
          <a:xfrm>
            <a:off x="4800600" y="3108960"/>
            <a:ext cx="4206240" cy="178308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4" name="Shape 22"/>
          <p:cNvSpPr/>
          <p:nvPr/>
        </p:nvSpPr>
        <p:spPr>
          <a:xfrm>
            <a:off x="4800600" y="3108960"/>
            <a:ext cx="4206240" cy="64008"/>
          </a:xfrm>
          <a:prstGeom prst="rect">
            <a:avLst/>
          </a:prstGeom>
          <a:solidFill>
            <a:srgbClr val="F9A825"/>
          </a:solidFill>
          <a:ln w="12700">
            <a:solidFill>
              <a:srgbClr val="F9A825"/>
            </a:solidFill>
            <a:prstDash val="solid"/>
          </a:ln>
        </p:spPr>
      </p:sp>
      <p:sp>
        <p:nvSpPr>
          <p:cNvPr id="25" name="Shape 23"/>
          <p:cNvSpPr/>
          <p:nvPr/>
        </p:nvSpPr>
        <p:spPr>
          <a:xfrm>
            <a:off x="4965192" y="3310128"/>
            <a:ext cx="502920" cy="502920"/>
          </a:xfrm>
          <a:prstGeom prst="ellipse">
            <a:avLst/>
          </a:prstGeom>
          <a:solidFill>
            <a:srgbClr val="F9A825"/>
          </a:solidFill>
          <a:ln w="12700">
            <a:solidFill>
              <a:srgbClr val="F9A825"/>
            </a:solidFill>
            <a:prstDash val="solid"/>
          </a:ln>
        </p:spPr>
      </p:sp>
      <p:sp>
        <p:nvSpPr>
          <p:cNvPr id="26" name="Text 24"/>
          <p:cNvSpPr/>
          <p:nvPr/>
        </p:nvSpPr>
        <p:spPr>
          <a:xfrm>
            <a:off x="4965192" y="3310128"/>
            <a:ext cx="502920" cy="50292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7" name="Text 25"/>
          <p:cNvSpPr/>
          <p:nvPr/>
        </p:nvSpPr>
        <p:spPr>
          <a:xfrm>
            <a:off x="5577840" y="3310128"/>
            <a:ext cx="3291840" cy="411480"/>
          </a:xfrm>
          <a:prstGeom prst="rect">
            <a:avLst/>
          </a:prstGeom>
          <a:noFill/>
          <a:ln/>
        </p:spPr>
        <p:txBody>
          <a:bodyPr wrap="square" rtlCol="0" anchor="ctr"/>
          <a:lstStyle/>
          <a:p>
            <a:pPr marL="0" indent="0">
              <a:buNone/>
            </a:pPr>
            <a:r>
              <a:rPr lang="en-US" sz="1250" b="1" dirty="0">
                <a:solidFill>
                  <a:srgbClr val="1E293B"/>
                </a:solidFill>
              </a:rPr>
              <a:t>Distance Analysis</a:t>
            </a:r>
            <a:endParaRPr lang="en-US" sz="1250" dirty="0"/>
          </a:p>
        </p:txBody>
      </p:sp>
      <p:sp>
        <p:nvSpPr>
          <p:cNvPr id="28" name="Text 26"/>
          <p:cNvSpPr/>
          <p:nvPr/>
        </p:nvSpPr>
        <p:spPr>
          <a:xfrm>
            <a:off x="4965192" y="3886200"/>
            <a:ext cx="3840480" cy="868680"/>
          </a:xfrm>
          <a:prstGeom prst="rect">
            <a:avLst/>
          </a:prstGeom>
          <a:noFill/>
          <a:ln/>
        </p:spPr>
        <p:txBody>
          <a:bodyPr wrap="square" rtlCol="0" anchor="ctr"/>
          <a:lstStyle/>
          <a:p>
            <a:pPr marL="0" indent="0">
              <a:lnSpc>
                <a:spcPct val="130000"/>
              </a:lnSpc>
              <a:buNone/>
            </a:pPr>
            <a:r>
              <a:rPr lang="en-US" sz="1100" dirty="0">
                <a:solidFill>
                  <a:srgbClr val="64748B"/>
                </a:solidFill>
              </a:rPr>
              <a:t>Segmented views of performance by distance group — short-haul vs. long-haul breakdowns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5F8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sp>
      <p:sp>
        <p:nvSpPr>
          <p:cNvPr id="3" name="Shape 1"/>
          <p:cNvSpPr/>
          <p:nvPr/>
        </p:nvSpPr>
        <p:spPr>
          <a:xfrm>
            <a:off x="0" y="0"/>
            <a:ext cx="164592" cy="914400"/>
          </a:xfrm>
          <a:prstGeom prst="rect">
            <a:avLst/>
          </a:prstGeom>
          <a:solidFill>
            <a:srgbClr val="F9A825"/>
          </a:solidFill>
          <a:ln w="12700">
            <a:solidFill>
              <a:srgbClr val="F9A825"/>
            </a:solidFill>
            <a:prstDash val="solid"/>
          </a:ln>
        </p:spPr>
      </p:sp>
      <p:sp>
        <p:nvSpPr>
          <p:cNvPr id="4" name="Text 2"/>
          <p:cNvSpPr/>
          <p:nvPr/>
        </p:nvSpPr>
        <p:spPr>
          <a:xfrm>
            <a:off x="320040" y="0"/>
            <a:ext cx="8229600" cy="914400"/>
          </a:xfrm>
          <a:prstGeom prst="rect">
            <a:avLst/>
          </a:prstGeom>
          <a:noFill/>
          <a:ln/>
        </p:spPr>
        <p:txBody>
          <a:bodyPr wrap="square" rtlCol="0" anchor="ctr"/>
          <a:lstStyle/>
          <a:p>
            <a:pPr marL="0" indent="0">
              <a:buNone/>
            </a:pPr>
            <a:r>
              <a:rPr lang="en-US" sz="2600" b="1" dirty="0">
                <a:solidFill>
                  <a:srgbClr val="FFFFFF"/>
                </a:solidFill>
              </a:rPr>
              <a:t>Key Insights</a:t>
            </a:r>
            <a:endParaRPr lang="en-US" sz="2600" dirty="0"/>
          </a:p>
        </p:txBody>
      </p:sp>
      <p:sp>
        <p:nvSpPr>
          <p:cNvPr id="5" name="Text 3"/>
          <p:cNvSpPr/>
          <p:nvPr/>
        </p:nvSpPr>
        <p:spPr>
          <a:xfrm>
            <a:off x="320040" y="566928"/>
            <a:ext cx="8229600" cy="320040"/>
          </a:xfrm>
          <a:prstGeom prst="rect">
            <a:avLst/>
          </a:prstGeom>
          <a:noFill/>
          <a:ln/>
        </p:spPr>
        <p:txBody>
          <a:bodyPr wrap="square" rtlCol="0" anchor="ctr"/>
          <a:lstStyle/>
          <a:p>
            <a:pPr marL="0" indent="0">
              <a:buNone/>
            </a:pPr>
            <a:r>
              <a:rPr lang="en-US" sz="1100" dirty="0">
                <a:solidFill>
                  <a:srgbClr val="42A5F5"/>
                </a:solidFill>
              </a:rPr>
              <a:t>Four high-impact findings driving strategic recommendations</a:t>
            </a:r>
            <a:endParaRPr lang="en-US" sz="1100" dirty="0"/>
          </a:p>
        </p:txBody>
      </p:sp>
      <p:sp>
        <p:nvSpPr>
          <p:cNvPr id="6" name="Shape 4"/>
          <p:cNvSpPr/>
          <p:nvPr/>
        </p:nvSpPr>
        <p:spPr>
          <a:xfrm>
            <a:off x="365760" y="1051560"/>
            <a:ext cx="4206240" cy="187452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7" name="Shape 5"/>
          <p:cNvSpPr/>
          <p:nvPr/>
        </p:nvSpPr>
        <p:spPr>
          <a:xfrm>
            <a:off x="365760" y="1051560"/>
            <a:ext cx="960120" cy="1874520"/>
          </a:xfrm>
          <a:prstGeom prst="rect">
            <a:avLst/>
          </a:prstGeom>
          <a:solidFill>
            <a:srgbClr val="1565C0"/>
          </a:solidFill>
          <a:ln w="12700">
            <a:solidFill>
              <a:srgbClr val="1565C0"/>
            </a:solidFill>
            <a:prstDash val="solid"/>
          </a:ln>
        </p:spPr>
      </p:sp>
      <p:sp>
        <p:nvSpPr>
          <p:cNvPr id="8" name="Text 6"/>
          <p:cNvSpPr/>
          <p:nvPr/>
        </p:nvSpPr>
        <p:spPr>
          <a:xfrm>
            <a:off x="365760" y="1051560"/>
            <a:ext cx="960120" cy="9144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9" name="Text 7"/>
          <p:cNvSpPr/>
          <p:nvPr/>
        </p:nvSpPr>
        <p:spPr>
          <a:xfrm>
            <a:off x="365760" y="1965960"/>
            <a:ext cx="960120" cy="960120"/>
          </a:xfrm>
          <a:prstGeom prst="rect">
            <a:avLst/>
          </a:prstGeom>
          <a:noFill/>
          <a:ln/>
        </p:spPr>
        <p:txBody>
          <a:bodyPr wrap="square" rtlCol="0" anchor="ctr"/>
          <a:lstStyle/>
          <a:p>
            <a:pPr marL="0" indent="0" algn="ctr">
              <a:buNone/>
            </a:pPr>
            <a:r>
              <a:rPr lang="en-US" sz="1300" b="1" dirty="0">
                <a:solidFill>
                  <a:srgbClr val="FFFFFF"/>
                </a:solidFill>
              </a:rPr>
              <a:t>85%+</a:t>
            </a:r>
            <a:endParaRPr lang="en-US" sz="1300" dirty="0"/>
          </a:p>
        </p:txBody>
      </p:sp>
      <p:sp>
        <p:nvSpPr>
          <p:cNvPr id="10" name="Text 8"/>
          <p:cNvSpPr/>
          <p:nvPr/>
        </p:nvSpPr>
        <p:spPr>
          <a:xfrm>
            <a:off x="1417320" y="1188720"/>
            <a:ext cx="3063240" cy="411480"/>
          </a:xfrm>
          <a:prstGeom prst="rect">
            <a:avLst/>
          </a:prstGeom>
          <a:noFill/>
          <a:ln/>
        </p:spPr>
        <p:txBody>
          <a:bodyPr wrap="square" rtlCol="0" anchor="ctr"/>
          <a:lstStyle/>
          <a:p>
            <a:pPr marL="0" indent="0">
              <a:buNone/>
            </a:pPr>
            <a:r>
              <a:rPr lang="en-US" sz="1300" b="1" dirty="0">
                <a:solidFill>
                  <a:srgbClr val="1E293B"/>
                </a:solidFill>
              </a:rPr>
              <a:t>Top 10 Carriers</a:t>
            </a:r>
            <a:endParaRPr lang="en-US" sz="1300" dirty="0"/>
          </a:p>
        </p:txBody>
      </p:sp>
      <p:sp>
        <p:nvSpPr>
          <p:cNvPr id="11" name="Text 9"/>
          <p:cNvSpPr/>
          <p:nvPr/>
        </p:nvSpPr>
        <p:spPr>
          <a:xfrm>
            <a:off x="1417320" y="1618488"/>
            <a:ext cx="3063240" cy="1188720"/>
          </a:xfrm>
          <a:prstGeom prst="rect">
            <a:avLst/>
          </a:prstGeom>
          <a:noFill/>
          <a:ln/>
        </p:spPr>
        <p:txBody>
          <a:bodyPr wrap="square" rtlCol="0" anchor="ctr"/>
          <a:lstStyle/>
          <a:p>
            <a:pPr marL="0" indent="0">
              <a:lnSpc>
                <a:spcPct val="130000"/>
              </a:lnSpc>
              <a:buNone/>
            </a:pPr>
            <a:r>
              <a:rPr lang="en-US" sz="1050" dirty="0">
                <a:solidFill>
                  <a:srgbClr val="64748B"/>
                </a:solidFill>
              </a:rPr>
              <a:t>Top 10 carriers account for over 85% of total passenger volume. The leading carrier consistently exceeds a 90% load factor.</a:t>
            </a:r>
            <a:endParaRPr lang="en-US" sz="1050" dirty="0"/>
          </a:p>
        </p:txBody>
      </p:sp>
      <p:sp>
        <p:nvSpPr>
          <p:cNvPr id="12" name="Shape 10"/>
          <p:cNvSpPr/>
          <p:nvPr/>
        </p:nvSpPr>
        <p:spPr>
          <a:xfrm>
            <a:off x="4800600" y="1051560"/>
            <a:ext cx="4206240" cy="187452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3" name="Shape 11"/>
          <p:cNvSpPr/>
          <p:nvPr/>
        </p:nvSpPr>
        <p:spPr>
          <a:xfrm>
            <a:off x="4800600" y="1051560"/>
            <a:ext cx="960120" cy="1874520"/>
          </a:xfrm>
          <a:prstGeom prst="rect">
            <a:avLst/>
          </a:prstGeom>
          <a:solidFill>
            <a:srgbClr val="00897B"/>
          </a:solidFill>
          <a:ln w="12700">
            <a:solidFill>
              <a:srgbClr val="00897B"/>
            </a:solidFill>
            <a:prstDash val="solid"/>
          </a:ln>
        </p:spPr>
      </p:sp>
      <p:sp>
        <p:nvSpPr>
          <p:cNvPr id="14" name="Text 12"/>
          <p:cNvSpPr/>
          <p:nvPr/>
        </p:nvSpPr>
        <p:spPr>
          <a:xfrm>
            <a:off x="4800600" y="1051560"/>
            <a:ext cx="960120" cy="9144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5" name="Text 13"/>
          <p:cNvSpPr/>
          <p:nvPr/>
        </p:nvSpPr>
        <p:spPr>
          <a:xfrm>
            <a:off x="4800600" y="1965960"/>
            <a:ext cx="960120" cy="960120"/>
          </a:xfrm>
          <a:prstGeom prst="rect">
            <a:avLst/>
          </a:prstGeom>
          <a:noFill/>
          <a:ln/>
        </p:spPr>
        <p:txBody>
          <a:bodyPr wrap="square" rtlCol="0" anchor="ctr"/>
          <a:lstStyle/>
          <a:p>
            <a:pPr marL="0" indent="0" algn="ctr">
              <a:buNone/>
            </a:pPr>
            <a:r>
              <a:rPr lang="en-US" sz="1300" b="1" dirty="0">
                <a:solidFill>
                  <a:srgbClr val="FFFFFF"/>
                </a:solidFill>
              </a:rPr>
              <a:t>&lt;500mi</a:t>
            </a:r>
            <a:endParaRPr lang="en-US" sz="1300" dirty="0"/>
          </a:p>
        </p:txBody>
      </p:sp>
      <p:sp>
        <p:nvSpPr>
          <p:cNvPr id="16" name="Text 14"/>
          <p:cNvSpPr/>
          <p:nvPr/>
        </p:nvSpPr>
        <p:spPr>
          <a:xfrm>
            <a:off x="5852160" y="1188720"/>
            <a:ext cx="3063240" cy="411480"/>
          </a:xfrm>
          <a:prstGeom prst="rect">
            <a:avLst/>
          </a:prstGeom>
          <a:noFill/>
          <a:ln/>
        </p:spPr>
        <p:txBody>
          <a:bodyPr wrap="square" rtlCol="0" anchor="ctr"/>
          <a:lstStyle/>
          <a:p>
            <a:pPr marL="0" indent="0">
              <a:buNone/>
            </a:pPr>
            <a:r>
              <a:rPr lang="en-US" sz="1300" b="1" dirty="0">
                <a:solidFill>
                  <a:srgbClr val="1E293B"/>
                </a:solidFill>
              </a:rPr>
              <a:t>Busiest Routes</a:t>
            </a:r>
            <a:endParaRPr lang="en-US" sz="1300" dirty="0"/>
          </a:p>
        </p:txBody>
      </p:sp>
      <p:sp>
        <p:nvSpPr>
          <p:cNvPr id="17" name="Text 15"/>
          <p:cNvSpPr/>
          <p:nvPr/>
        </p:nvSpPr>
        <p:spPr>
          <a:xfrm>
            <a:off x="5852160" y="1618488"/>
            <a:ext cx="3063240" cy="1188720"/>
          </a:xfrm>
          <a:prstGeom prst="rect">
            <a:avLst/>
          </a:prstGeom>
          <a:noFill/>
          <a:ln/>
        </p:spPr>
        <p:txBody>
          <a:bodyPr wrap="square" rtlCol="0" anchor="ctr"/>
          <a:lstStyle/>
          <a:p>
            <a:pPr marL="0" indent="0">
              <a:lnSpc>
                <a:spcPct val="130000"/>
              </a:lnSpc>
              <a:buNone/>
            </a:pPr>
            <a:r>
              <a:rPr lang="en-US" sz="1050" dirty="0">
                <a:solidFill>
                  <a:srgbClr val="64748B"/>
                </a:solidFill>
              </a:rPr>
              <a:t>Short-haul corridors dominate flight frequency. Transcontinental routes lead in passenger density.</a:t>
            </a:r>
            <a:endParaRPr lang="en-US" sz="1050" dirty="0"/>
          </a:p>
        </p:txBody>
      </p:sp>
      <p:sp>
        <p:nvSpPr>
          <p:cNvPr id="18" name="Shape 16"/>
          <p:cNvSpPr/>
          <p:nvPr/>
        </p:nvSpPr>
        <p:spPr>
          <a:xfrm>
            <a:off x="365760" y="3081528"/>
            <a:ext cx="4206240" cy="187452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19" name="Shape 17"/>
          <p:cNvSpPr/>
          <p:nvPr/>
        </p:nvSpPr>
        <p:spPr>
          <a:xfrm>
            <a:off x="365760" y="3081528"/>
            <a:ext cx="960120" cy="1874520"/>
          </a:xfrm>
          <a:prstGeom prst="rect">
            <a:avLst/>
          </a:prstGeom>
          <a:solidFill>
            <a:srgbClr val="00ACC1"/>
          </a:solidFill>
          <a:ln w="12700">
            <a:solidFill>
              <a:srgbClr val="00ACC1"/>
            </a:solidFill>
            <a:prstDash val="solid"/>
          </a:ln>
        </p:spPr>
      </p:sp>
      <p:sp>
        <p:nvSpPr>
          <p:cNvPr id="20" name="Text 18"/>
          <p:cNvSpPr/>
          <p:nvPr/>
        </p:nvSpPr>
        <p:spPr>
          <a:xfrm>
            <a:off x="365760" y="3081528"/>
            <a:ext cx="960120" cy="9144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1" name="Text 19"/>
          <p:cNvSpPr/>
          <p:nvPr/>
        </p:nvSpPr>
        <p:spPr>
          <a:xfrm>
            <a:off x="365760" y="3995928"/>
            <a:ext cx="960120" cy="960120"/>
          </a:xfrm>
          <a:prstGeom prst="rect">
            <a:avLst/>
          </a:prstGeom>
          <a:noFill/>
          <a:ln/>
        </p:spPr>
        <p:txBody>
          <a:bodyPr wrap="square" rtlCol="0" anchor="ctr"/>
          <a:lstStyle/>
          <a:p>
            <a:pPr marL="0" indent="0" algn="ctr">
              <a:buNone/>
            </a:pPr>
            <a:r>
              <a:rPr lang="en-US" sz="1300" b="1" dirty="0">
                <a:solidFill>
                  <a:srgbClr val="FFFFFF"/>
                </a:solidFill>
              </a:rPr>
              <a:t>12–18%</a:t>
            </a:r>
            <a:endParaRPr lang="en-US" sz="1300" dirty="0"/>
          </a:p>
        </p:txBody>
      </p:sp>
      <p:sp>
        <p:nvSpPr>
          <p:cNvPr id="22" name="Text 20"/>
          <p:cNvSpPr/>
          <p:nvPr/>
        </p:nvSpPr>
        <p:spPr>
          <a:xfrm>
            <a:off x="1417320" y="3218688"/>
            <a:ext cx="3063240" cy="411480"/>
          </a:xfrm>
          <a:prstGeom prst="rect">
            <a:avLst/>
          </a:prstGeom>
          <a:noFill/>
          <a:ln/>
        </p:spPr>
        <p:txBody>
          <a:bodyPr wrap="square" rtlCol="0" anchor="ctr"/>
          <a:lstStyle/>
          <a:p>
            <a:pPr marL="0" indent="0">
              <a:buNone/>
            </a:pPr>
            <a:r>
              <a:rPr lang="en-US" sz="1300" b="1" dirty="0">
                <a:solidFill>
                  <a:srgbClr val="1E293B"/>
                </a:solidFill>
              </a:rPr>
              <a:t>Weekend vs. Weekday</a:t>
            </a:r>
            <a:endParaRPr lang="en-US" sz="1300" dirty="0"/>
          </a:p>
        </p:txBody>
      </p:sp>
      <p:sp>
        <p:nvSpPr>
          <p:cNvPr id="23" name="Text 21"/>
          <p:cNvSpPr/>
          <p:nvPr/>
        </p:nvSpPr>
        <p:spPr>
          <a:xfrm>
            <a:off x="1417320" y="3648456"/>
            <a:ext cx="3063240" cy="1188720"/>
          </a:xfrm>
          <a:prstGeom prst="rect">
            <a:avLst/>
          </a:prstGeom>
          <a:noFill/>
          <a:ln/>
        </p:spPr>
        <p:txBody>
          <a:bodyPr wrap="square" rtlCol="0" anchor="ctr"/>
          <a:lstStyle/>
          <a:p>
            <a:pPr marL="0" indent="0">
              <a:lnSpc>
                <a:spcPct val="130000"/>
              </a:lnSpc>
              <a:buNone/>
            </a:pPr>
            <a:r>
              <a:rPr lang="en-US" sz="1050" dirty="0">
                <a:solidFill>
                  <a:srgbClr val="64748B"/>
                </a:solidFill>
              </a:rPr>
              <a:t>Weekend flights show 12–18% higher load factors on leisure routes. Business routes peak mid-week (Tue–Thu).</a:t>
            </a:r>
            <a:endParaRPr lang="en-US" sz="1050" dirty="0"/>
          </a:p>
        </p:txBody>
      </p:sp>
      <p:sp>
        <p:nvSpPr>
          <p:cNvPr id="24" name="Shape 22"/>
          <p:cNvSpPr/>
          <p:nvPr/>
        </p:nvSpPr>
        <p:spPr>
          <a:xfrm>
            <a:off x="4800600" y="3081528"/>
            <a:ext cx="4206240" cy="187452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sp>
      <p:sp>
        <p:nvSpPr>
          <p:cNvPr id="25" name="Shape 23"/>
          <p:cNvSpPr/>
          <p:nvPr/>
        </p:nvSpPr>
        <p:spPr>
          <a:xfrm>
            <a:off x="4800600" y="3081528"/>
            <a:ext cx="960120" cy="1874520"/>
          </a:xfrm>
          <a:prstGeom prst="rect">
            <a:avLst/>
          </a:prstGeom>
          <a:solidFill>
            <a:srgbClr val="F9A825"/>
          </a:solidFill>
          <a:ln w="12700">
            <a:solidFill>
              <a:srgbClr val="F9A825"/>
            </a:solidFill>
            <a:prstDash val="solid"/>
          </a:ln>
        </p:spPr>
      </p:sp>
      <p:sp>
        <p:nvSpPr>
          <p:cNvPr id="26" name="Text 24"/>
          <p:cNvSpPr/>
          <p:nvPr/>
        </p:nvSpPr>
        <p:spPr>
          <a:xfrm>
            <a:off x="4800600" y="3081528"/>
            <a:ext cx="960120" cy="9144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7" name="Text 25"/>
          <p:cNvSpPr/>
          <p:nvPr/>
        </p:nvSpPr>
        <p:spPr>
          <a:xfrm>
            <a:off x="4800600" y="3995928"/>
            <a:ext cx="960120" cy="960120"/>
          </a:xfrm>
          <a:prstGeom prst="rect">
            <a:avLst/>
          </a:prstGeom>
          <a:noFill/>
          <a:ln/>
        </p:spPr>
        <p:txBody>
          <a:bodyPr wrap="square" rtlCol="0" anchor="ctr"/>
          <a:lstStyle/>
          <a:p>
            <a:pPr marL="0" indent="0" algn="ctr">
              <a:buNone/>
            </a:pPr>
            <a:r>
              <a:rPr lang="en-US" sz="1300" b="1" dirty="0">
                <a:solidFill>
                  <a:srgbClr val="FFFFFF"/>
                </a:solidFill>
              </a:rPr>
              <a:t>1500+mi</a:t>
            </a:r>
            <a:endParaRPr lang="en-US" sz="1300" dirty="0"/>
          </a:p>
        </p:txBody>
      </p:sp>
      <p:sp>
        <p:nvSpPr>
          <p:cNvPr id="28" name="Text 26"/>
          <p:cNvSpPr/>
          <p:nvPr/>
        </p:nvSpPr>
        <p:spPr>
          <a:xfrm>
            <a:off x="5852160" y="3218688"/>
            <a:ext cx="3063240" cy="411480"/>
          </a:xfrm>
          <a:prstGeom prst="rect">
            <a:avLst/>
          </a:prstGeom>
          <a:noFill/>
          <a:ln/>
        </p:spPr>
        <p:txBody>
          <a:bodyPr wrap="square" rtlCol="0" anchor="ctr"/>
          <a:lstStyle/>
          <a:p>
            <a:pPr marL="0" indent="0">
              <a:buNone/>
            </a:pPr>
            <a:r>
              <a:rPr lang="en-US" sz="1300" b="1" dirty="0">
                <a:solidFill>
                  <a:srgbClr val="1E293B"/>
                </a:solidFill>
              </a:rPr>
              <a:t>Distance Group</a:t>
            </a:r>
            <a:endParaRPr lang="en-US" sz="1300" dirty="0"/>
          </a:p>
        </p:txBody>
      </p:sp>
      <p:sp>
        <p:nvSpPr>
          <p:cNvPr id="29" name="Text 27"/>
          <p:cNvSpPr/>
          <p:nvPr/>
        </p:nvSpPr>
        <p:spPr>
          <a:xfrm>
            <a:off x="5852160" y="3648456"/>
            <a:ext cx="3063240" cy="1188720"/>
          </a:xfrm>
          <a:prstGeom prst="rect">
            <a:avLst/>
          </a:prstGeom>
          <a:noFill/>
          <a:ln/>
        </p:spPr>
        <p:txBody>
          <a:bodyPr wrap="square" rtlCol="0" anchor="ctr"/>
          <a:lstStyle/>
          <a:p>
            <a:pPr marL="0" indent="0">
              <a:lnSpc>
                <a:spcPct val="130000"/>
              </a:lnSpc>
              <a:buNone/>
            </a:pPr>
            <a:r>
              <a:rPr lang="en-US" sz="1050" dirty="0">
                <a:solidFill>
                  <a:srgbClr val="64748B"/>
                </a:solidFill>
              </a:rPr>
              <a:t>Long-haul routes deliver the highest load factors but lower frequency — premium demand with limited supply.</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FFFFFF">
              <a:alpha val="6000"/>
            </a:srgbClr>
          </a:solidFill>
          <a:ln w="12700">
            <a:solidFill>
              <a:srgbClr val="FFFFFF">
                <a:alpha val="8000"/>
              </a:srgbClr>
            </a:solidFill>
            <a:prstDash val="solid"/>
          </a:ln>
        </p:spPr>
      </p:sp>
      <p:sp>
        <p:nvSpPr>
          <p:cNvPr id="3" name="Shape 1"/>
          <p:cNvSpPr/>
          <p:nvPr/>
        </p:nvSpPr>
        <p:spPr>
          <a:xfrm>
            <a:off x="7498080" y="2286000"/>
            <a:ext cx="3200400" cy="3200400"/>
          </a:xfrm>
          <a:prstGeom prst="ellipse">
            <a:avLst/>
          </a:prstGeom>
          <a:solidFill>
            <a:srgbClr val="FFFFFF">
              <a:alpha val="10000"/>
            </a:srgbClr>
          </a:solidFill>
          <a:ln w="12700">
            <a:solidFill>
              <a:srgbClr val="FFFFFF">
                <a:alpha val="12000"/>
              </a:srgbClr>
            </a:solidFill>
            <a:prstDash val="solid"/>
          </a:ln>
        </p:spPr>
      </p:sp>
      <p:sp>
        <p:nvSpPr>
          <p:cNvPr id="4" name="Shape 2"/>
          <p:cNvSpPr/>
          <p:nvPr/>
        </p:nvSpPr>
        <p:spPr>
          <a:xfrm>
            <a:off x="0" y="0"/>
            <a:ext cx="164592" cy="5143500"/>
          </a:xfrm>
          <a:prstGeom prst="rect">
            <a:avLst/>
          </a:prstGeom>
          <a:solidFill>
            <a:srgbClr val="F9A825"/>
          </a:solidFill>
          <a:ln w="12700">
            <a:solidFill>
              <a:srgbClr val="F9A825"/>
            </a:solidFill>
            <a:prstDash val="solid"/>
          </a:ln>
        </p:spPr>
      </p:sp>
      <p:sp>
        <p:nvSpPr>
          <p:cNvPr id="5" name="Text 3"/>
          <p:cNvSpPr/>
          <p:nvPr/>
        </p:nvSpPr>
        <p:spPr>
          <a:xfrm>
            <a:off x="365760" y="228600"/>
            <a:ext cx="8229600" cy="594360"/>
          </a:xfrm>
          <a:prstGeom prst="rect">
            <a:avLst/>
          </a:prstGeom>
          <a:noFill/>
          <a:ln/>
        </p:spPr>
        <p:txBody>
          <a:bodyPr wrap="square" rtlCol="0" anchor="ctr"/>
          <a:lstStyle/>
          <a:p>
            <a:pPr marL="0" indent="0">
              <a:buNone/>
            </a:pPr>
            <a:r>
              <a:rPr lang="en-US" sz="2600" b="1" dirty="0">
                <a:solidFill>
                  <a:srgbClr val="FFFFFF"/>
                </a:solidFill>
              </a:rPr>
              <a:t>Conclusion &amp; Business Value</a:t>
            </a:r>
            <a:endParaRPr lang="en-US" sz="2600" dirty="0"/>
          </a:p>
        </p:txBody>
      </p:sp>
      <p:sp>
        <p:nvSpPr>
          <p:cNvPr id="6" name="Text 4"/>
          <p:cNvSpPr/>
          <p:nvPr/>
        </p:nvSpPr>
        <p:spPr>
          <a:xfrm>
            <a:off x="365760" y="960120"/>
            <a:ext cx="8229600" cy="347472"/>
          </a:xfrm>
          <a:prstGeom prst="rect">
            <a:avLst/>
          </a:prstGeom>
          <a:noFill/>
          <a:ln/>
        </p:spPr>
        <p:txBody>
          <a:bodyPr wrap="square" rtlCol="0" anchor="ctr"/>
          <a:lstStyle/>
          <a:p>
            <a:pPr marL="0" indent="0">
              <a:buNone/>
            </a:pPr>
            <a:r>
              <a:rPr lang="en-US" sz="1200" b="1" dirty="0">
                <a:solidFill>
                  <a:srgbClr val="F9A825"/>
                </a:solidFill>
              </a:rPr>
              <a:t>Summary of Findings</a:t>
            </a:r>
            <a:endParaRPr lang="en-US" sz="1200" dirty="0"/>
          </a:p>
        </p:txBody>
      </p:sp>
      <p:sp>
        <p:nvSpPr>
          <p:cNvPr id="7" name="Shape 5"/>
          <p:cNvSpPr/>
          <p:nvPr/>
        </p:nvSpPr>
        <p:spPr>
          <a:xfrm>
            <a:off x="365760" y="1417320"/>
            <a:ext cx="201168" cy="201168"/>
          </a:xfrm>
          <a:prstGeom prst="ellipse">
            <a:avLst/>
          </a:prstGeom>
          <a:solidFill>
            <a:srgbClr val="F9A825"/>
          </a:solidFill>
          <a:ln w="12700">
            <a:solidFill>
              <a:srgbClr val="F9A825"/>
            </a:solidFill>
            <a:prstDash val="solid"/>
          </a:ln>
        </p:spPr>
      </p:sp>
      <p:sp>
        <p:nvSpPr>
          <p:cNvPr id="8" name="Text 6"/>
          <p:cNvSpPr/>
          <p:nvPr/>
        </p:nvSpPr>
        <p:spPr>
          <a:xfrm>
            <a:off x="685800" y="1389888"/>
            <a:ext cx="5760720" cy="457200"/>
          </a:xfrm>
          <a:prstGeom prst="rect">
            <a:avLst/>
          </a:prstGeom>
          <a:noFill/>
          <a:ln/>
        </p:spPr>
        <p:txBody>
          <a:bodyPr wrap="square" rtlCol="0" anchor="ctr"/>
          <a:lstStyle/>
          <a:p>
            <a:pPr marL="0" indent="0">
              <a:lnSpc>
                <a:spcPct val="120000"/>
              </a:lnSpc>
              <a:buNone/>
            </a:pPr>
            <a:r>
              <a:rPr lang="en-US" sz="1100" dirty="0">
                <a:solidFill>
                  <a:srgbClr val="CBD5E1"/>
                </a:solidFill>
              </a:rPr>
              <a:t>Load factor is a reliable proxy for profitability — carriers sustaining &gt;80% outperform peers on revenue metrics</a:t>
            </a:r>
            <a:endParaRPr lang="en-US" sz="1100" dirty="0"/>
          </a:p>
        </p:txBody>
      </p:sp>
      <p:sp>
        <p:nvSpPr>
          <p:cNvPr id="9" name="Shape 7"/>
          <p:cNvSpPr/>
          <p:nvPr/>
        </p:nvSpPr>
        <p:spPr>
          <a:xfrm>
            <a:off x="365760" y="1984248"/>
            <a:ext cx="201168" cy="201168"/>
          </a:xfrm>
          <a:prstGeom prst="ellipse">
            <a:avLst/>
          </a:prstGeom>
          <a:solidFill>
            <a:srgbClr val="F9A825"/>
          </a:solidFill>
          <a:ln w="12700">
            <a:solidFill>
              <a:srgbClr val="F9A825"/>
            </a:solidFill>
            <a:prstDash val="solid"/>
          </a:ln>
        </p:spPr>
      </p:sp>
      <p:sp>
        <p:nvSpPr>
          <p:cNvPr id="10" name="Text 8"/>
          <p:cNvSpPr/>
          <p:nvPr/>
        </p:nvSpPr>
        <p:spPr>
          <a:xfrm>
            <a:off x="685800" y="1956816"/>
            <a:ext cx="5760720" cy="457200"/>
          </a:xfrm>
          <a:prstGeom prst="rect">
            <a:avLst/>
          </a:prstGeom>
          <a:noFill/>
          <a:ln/>
        </p:spPr>
        <p:txBody>
          <a:bodyPr wrap="square" rtlCol="0" anchor="ctr"/>
          <a:lstStyle/>
          <a:p>
            <a:pPr marL="0" indent="0">
              <a:lnSpc>
                <a:spcPct val="120000"/>
              </a:lnSpc>
              <a:buNone/>
            </a:pPr>
            <a:r>
              <a:rPr lang="en-US" sz="1100" dirty="0">
                <a:solidFill>
                  <a:srgbClr val="CBD5E1"/>
                </a:solidFill>
              </a:rPr>
              <a:t>Seasonal spikes in Q2 and Q4 signal opportunities for dynamic pricing and capacity planning</a:t>
            </a:r>
            <a:endParaRPr lang="en-US" sz="1100" dirty="0"/>
          </a:p>
        </p:txBody>
      </p:sp>
      <p:sp>
        <p:nvSpPr>
          <p:cNvPr id="11" name="Shape 9"/>
          <p:cNvSpPr/>
          <p:nvPr/>
        </p:nvSpPr>
        <p:spPr>
          <a:xfrm>
            <a:off x="365760" y="2551176"/>
            <a:ext cx="201168" cy="201168"/>
          </a:xfrm>
          <a:prstGeom prst="ellipse">
            <a:avLst/>
          </a:prstGeom>
          <a:solidFill>
            <a:srgbClr val="F9A825"/>
          </a:solidFill>
          <a:ln w="12700">
            <a:solidFill>
              <a:srgbClr val="F9A825"/>
            </a:solidFill>
            <a:prstDash val="solid"/>
          </a:ln>
        </p:spPr>
      </p:sp>
      <p:sp>
        <p:nvSpPr>
          <p:cNvPr id="12" name="Text 10"/>
          <p:cNvSpPr/>
          <p:nvPr/>
        </p:nvSpPr>
        <p:spPr>
          <a:xfrm>
            <a:off x="685800" y="2523744"/>
            <a:ext cx="5760720" cy="457200"/>
          </a:xfrm>
          <a:prstGeom prst="rect">
            <a:avLst/>
          </a:prstGeom>
          <a:noFill/>
          <a:ln/>
        </p:spPr>
        <p:txBody>
          <a:bodyPr wrap="square" rtlCol="0" anchor="ctr"/>
          <a:lstStyle/>
          <a:p>
            <a:pPr marL="0" indent="0">
              <a:lnSpc>
                <a:spcPct val="120000"/>
              </a:lnSpc>
              <a:buNone/>
            </a:pPr>
            <a:r>
              <a:rPr lang="en-US" sz="1100" dirty="0">
                <a:solidFill>
                  <a:srgbClr val="CBD5E1"/>
                </a:solidFill>
              </a:rPr>
              <a:t>Interactive dashboards in Power BI and Tableau empower stakeholders to slice data by country, state, and city in real time</a:t>
            </a:r>
            <a:endParaRPr lang="en-US" sz="1100" dirty="0"/>
          </a:p>
        </p:txBody>
      </p:sp>
      <p:sp>
        <p:nvSpPr>
          <p:cNvPr id="13" name="Text 11"/>
          <p:cNvSpPr/>
          <p:nvPr/>
        </p:nvSpPr>
        <p:spPr>
          <a:xfrm>
            <a:off x="365760" y="3200400"/>
            <a:ext cx="8229600" cy="347472"/>
          </a:xfrm>
          <a:prstGeom prst="rect">
            <a:avLst/>
          </a:prstGeom>
          <a:noFill/>
          <a:ln/>
        </p:spPr>
        <p:txBody>
          <a:bodyPr wrap="square" rtlCol="0" anchor="ctr"/>
          <a:lstStyle/>
          <a:p>
            <a:pPr marL="0" indent="0">
              <a:buNone/>
            </a:pPr>
            <a:r>
              <a:rPr lang="en-US" sz="1200" b="1" dirty="0">
                <a:solidFill>
                  <a:srgbClr val="F9A825"/>
                </a:solidFill>
              </a:rPr>
              <a:t>Learning Outcomes</a:t>
            </a:r>
            <a:endParaRPr lang="en-US" sz="1200" dirty="0"/>
          </a:p>
        </p:txBody>
      </p:sp>
      <p:sp>
        <p:nvSpPr>
          <p:cNvPr id="14" name="Shape 12"/>
          <p:cNvSpPr/>
          <p:nvPr/>
        </p:nvSpPr>
        <p:spPr>
          <a:xfrm>
            <a:off x="365760" y="3657600"/>
            <a:ext cx="2011680" cy="1234440"/>
          </a:xfrm>
          <a:prstGeom prst="rect">
            <a:avLst/>
          </a:prstGeom>
          <a:solidFill>
            <a:srgbClr val="FFFFFF">
              <a:alpha val="10000"/>
            </a:srgbClr>
          </a:solidFill>
          <a:ln w="12700">
            <a:solidFill>
              <a:srgbClr val="42A5F5"/>
            </a:solidFill>
            <a:prstDash val="solid"/>
          </a:ln>
        </p:spPr>
      </p:sp>
      <p:sp>
        <p:nvSpPr>
          <p:cNvPr id="15" name="Text 13"/>
          <p:cNvSpPr/>
          <p:nvPr/>
        </p:nvSpPr>
        <p:spPr>
          <a:xfrm>
            <a:off x="365760" y="3657600"/>
            <a:ext cx="2011680" cy="457200"/>
          </a:xfrm>
          <a:prstGeom prst="rect">
            <a:avLst/>
          </a:prstGeom>
          <a:noFill/>
          <a:ln/>
        </p:spPr>
        <p:txBody>
          <a:bodyPr wrap="square" rtlCol="0" anchor="ctr"/>
          <a:lstStyle/>
          <a:p>
            <a:pPr marL="0" indent="0" algn="ctr">
              <a:buNone/>
            </a:pPr>
            <a:r>
              <a:rPr lang="en-US" sz="1800" b="1" dirty="0">
                <a:solidFill>
                  <a:srgbClr val="42A5F5"/>
                </a:solidFill>
              </a:rPr>
              <a:t>01</a:t>
            </a:r>
            <a:endParaRPr lang="en-US" sz="1800" dirty="0"/>
          </a:p>
        </p:txBody>
      </p:sp>
      <p:sp>
        <p:nvSpPr>
          <p:cNvPr id="16" name="Text 14"/>
          <p:cNvSpPr/>
          <p:nvPr/>
        </p:nvSpPr>
        <p:spPr>
          <a:xfrm>
            <a:off x="438912" y="4133088"/>
            <a:ext cx="1874520" cy="320040"/>
          </a:xfrm>
          <a:prstGeom prst="rect">
            <a:avLst/>
          </a:prstGeom>
          <a:noFill/>
          <a:ln/>
        </p:spPr>
        <p:txBody>
          <a:bodyPr wrap="square" rtlCol="0" anchor="ctr"/>
          <a:lstStyle/>
          <a:p>
            <a:pPr marL="0" indent="0" algn="ctr">
              <a:buNone/>
            </a:pPr>
            <a:r>
              <a:rPr lang="en-US" sz="950" b="1" dirty="0">
                <a:solidFill>
                  <a:srgbClr val="FFFFFF"/>
                </a:solidFill>
              </a:rPr>
              <a:t>SQL Proficiency</a:t>
            </a:r>
            <a:endParaRPr lang="en-US" sz="950" dirty="0"/>
          </a:p>
        </p:txBody>
      </p:sp>
      <p:sp>
        <p:nvSpPr>
          <p:cNvPr id="17" name="Text 15"/>
          <p:cNvSpPr/>
          <p:nvPr/>
        </p:nvSpPr>
        <p:spPr>
          <a:xfrm>
            <a:off x="438912" y="4462272"/>
            <a:ext cx="1874520" cy="347472"/>
          </a:xfrm>
          <a:prstGeom prst="rect">
            <a:avLst/>
          </a:prstGeom>
          <a:noFill/>
          <a:ln/>
        </p:spPr>
        <p:txBody>
          <a:bodyPr wrap="square" rtlCol="0" anchor="ctr"/>
          <a:lstStyle/>
          <a:p>
            <a:pPr marL="0" indent="0" algn="ctr">
              <a:buNone/>
            </a:pPr>
            <a:r>
              <a:rPr lang="en-US" sz="850" dirty="0">
                <a:solidFill>
                  <a:srgbClr val="CBD5E1"/>
                </a:solidFill>
              </a:rPr>
              <a:t>Advanced aggregations, joins, optimisation</a:t>
            </a:r>
            <a:endParaRPr lang="en-US" sz="850" dirty="0"/>
          </a:p>
        </p:txBody>
      </p:sp>
      <p:sp>
        <p:nvSpPr>
          <p:cNvPr id="18" name="Shape 16"/>
          <p:cNvSpPr/>
          <p:nvPr/>
        </p:nvSpPr>
        <p:spPr>
          <a:xfrm>
            <a:off x="2542032" y="3657600"/>
            <a:ext cx="2011680" cy="1234440"/>
          </a:xfrm>
          <a:prstGeom prst="rect">
            <a:avLst/>
          </a:prstGeom>
          <a:solidFill>
            <a:srgbClr val="FFFFFF">
              <a:alpha val="10000"/>
            </a:srgbClr>
          </a:solidFill>
          <a:ln w="12700">
            <a:solidFill>
              <a:srgbClr val="00897B"/>
            </a:solidFill>
            <a:prstDash val="solid"/>
          </a:ln>
        </p:spPr>
      </p:sp>
      <p:sp>
        <p:nvSpPr>
          <p:cNvPr id="19" name="Text 17"/>
          <p:cNvSpPr/>
          <p:nvPr/>
        </p:nvSpPr>
        <p:spPr>
          <a:xfrm>
            <a:off x="2542032" y="3657600"/>
            <a:ext cx="2011680" cy="457200"/>
          </a:xfrm>
          <a:prstGeom prst="rect">
            <a:avLst/>
          </a:prstGeom>
          <a:noFill/>
          <a:ln/>
        </p:spPr>
        <p:txBody>
          <a:bodyPr wrap="square" rtlCol="0" anchor="ctr"/>
          <a:lstStyle/>
          <a:p>
            <a:pPr marL="0" indent="0" algn="ctr">
              <a:buNone/>
            </a:pPr>
            <a:r>
              <a:rPr lang="en-US" sz="1800" b="1" dirty="0">
                <a:solidFill>
                  <a:srgbClr val="00897B"/>
                </a:solidFill>
              </a:rPr>
              <a:t>02</a:t>
            </a:r>
            <a:endParaRPr lang="en-US" sz="1800" dirty="0"/>
          </a:p>
        </p:txBody>
      </p:sp>
      <p:sp>
        <p:nvSpPr>
          <p:cNvPr id="20" name="Text 18"/>
          <p:cNvSpPr/>
          <p:nvPr/>
        </p:nvSpPr>
        <p:spPr>
          <a:xfrm>
            <a:off x="2615184" y="4133088"/>
            <a:ext cx="1874520" cy="320040"/>
          </a:xfrm>
          <a:prstGeom prst="rect">
            <a:avLst/>
          </a:prstGeom>
          <a:noFill/>
          <a:ln/>
        </p:spPr>
        <p:txBody>
          <a:bodyPr wrap="square" rtlCol="0" anchor="ctr"/>
          <a:lstStyle/>
          <a:p>
            <a:pPr marL="0" indent="0" algn="ctr">
              <a:buNone/>
            </a:pPr>
            <a:r>
              <a:rPr lang="en-US" sz="950" b="1" dirty="0">
                <a:solidFill>
                  <a:srgbClr val="FFFFFF"/>
                </a:solidFill>
              </a:rPr>
              <a:t>Excel Mastery</a:t>
            </a:r>
            <a:endParaRPr lang="en-US" sz="950" dirty="0"/>
          </a:p>
        </p:txBody>
      </p:sp>
      <p:sp>
        <p:nvSpPr>
          <p:cNvPr id="21" name="Text 19"/>
          <p:cNvSpPr/>
          <p:nvPr/>
        </p:nvSpPr>
        <p:spPr>
          <a:xfrm>
            <a:off x="2615184" y="4462272"/>
            <a:ext cx="1874520" cy="347472"/>
          </a:xfrm>
          <a:prstGeom prst="rect">
            <a:avLst/>
          </a:prstGeom>
          <a:noFill/>
          <a:ln/>
        </p:spPr>
        <p:txBody>
          <a:bodyPr wrap="square" rtlCol="0" anchor="ctr"/>
          <a:lstStyle/>
          <a:p>
            <a:pPr marL="0" indent="0" algn="ctr">
              <a:buNone/>
            </a:pPr>
            <a:r>
              <a:rPr lang="en-US" sz="850" dirty="0">
                <a:solidFill>
                  <a:srgbClr val="CBD5E1"/>
                </a:solidFill>
              </a:rPr>
              <a:t>Pivot tables, complex formulas, KPI design</a:t>
            </a:r>
            <a:endParaRPr lang="en-US" sz="850" dirty="0"/>
          </a:p>
        </p:txBody>
      </p:sp>
      <p:sp>
        <p:nvSpPr>
          <p:cNvPr id="22" name="Shape 20"/>
          <p:cNvSpPr/>
          <p:nvPr/>
        </p:nvSpPr>
        <p:spPr>
          <a:xfrm>
            <a:off x="4718304" y="3657600"/>
            <a:ext cx="2011680" cy="1234440"/>
          </a:xfrm>
          <a:prstGeom prst="rect">
            <a:avLst/>
          </a:prstGeom>
          <a:solidFill>
            <a:srgbClr val="FFFFFF">
              <a:alpha val="10000"/>
            </a:srgbClr>
          </a:solidFill>
          <a:ln w="12700">
            <a:solidFill>
              <a:srgbClr val="00ACC1"/>
            </a:solidFill>
            <a:prstDash val="solid"/>
          </a:ln>
        </p:spPr>
      </p:sp>
      <p:sp>
        <p:nvSpPr>
          <p:cNvPr id="23" name="Text 21"/>
          <p:cNvSpPr/>
          <p:nvPr/>
        </p:nvSpPr>
        <p:spPr>
          <a:xfrm>
            <a:off x="4718304" y="3657600"/>
            <a:ext cx="2011680" cy="457200"/>
          </a:xfrm>
          <a:prstGeom prst="rect">
            <a:avLst/>
          </a:prstGeom>
          <a:noFill/>
          <a:ln/>
        </p:spPr>
        <p:txBody>
          <a:bodyPr wrap="square" rtlCol="0" anchor="ctr"/>
          <a:lstStyle/>
          <a:p>
            <a:pPr marL="0" indent="0" algn="ctr">
              <a:buNone/>
            </a:pPr>
            <a:r>
              <a:rPr lang="en-US" sz="1800" b="1" dirty="0">
                <a:solidFill>
                  <a:srgbClr val="00ACC1"/>
                </a:solidFill>
              </a:rPr>
              <a:t>03</a:t>
            </a:r>
            <a:endParaRPr lang="en-US" sz="1800" dirty="0"/>
          </a:p>
        </p:txBody>
      </p:sp>
      <p:sp>
        <p:nvSpPr>
          <p:cNvPr id="24" name="Text 22"/>
          <p:cNvSpPr/>
          <p:nvPr/>
        </p:nvSpPr>
        <p:spPr>
          <a:xfrm>
            <a:off x="4791456" y="4133088"/>
            <a:ext cx="1874520" cy="320040"/>
          </a:xfrm>
          <a:prstGeom prst="rect">
            <a:avLst/>
          </a:prstGeom>
          <a:noFill/>
          <a:ln/>
        </p:spPr>
        <p:txBody>
          <a:bodyPr wrap="square" rtlCol="0" anchor="ctr"/>
          <a:lstStyle/>
          <a:p>
            <a:pPr marL="0" indent="0" algn="ctr">
              <a:buNone/>
            </a:pPr>
            <a:r>
              <a:rPr lang="en-US" sz="950" b="1" dirty="0">
                <a:solidFill>
                  <a:srgbClr val="FFFFFF"/>
                </a:solidFill>
              </a:rPr>
              <a:t>Power BI &amp; Tableau</a:t>
            </a:r>
            <a:endParaRPr lang="en-US" sz="950" dirty="0"/>
          </a:p>
        </p:txBody>
      </p:sp>
      <p:sp>
        <p:nvSpPr>
          <p:cNvPr id="25" name="Text 23"/>
          <p:cNvSpPr/>
          <p:nvPr/>
        </p:nvSpPr>
        <p:spPr>
          <a:xfrm>
            <a:off x="4791456" y="4462272"/>
            <a:ext cx="1874520" cy="347472"/>
          </a:xfrm>
          <a:prstGeom prst="rect">
            <a:avLst/>
          </a:prstGeom>
          <a:noFill/>
          <a:ln/>
        </p:spPr>
        <p:txBody>
          <a:bodyPr wrap="square" rtlCol="0" anchor="ctr"/>
          <a:lstStyle/>
          <a:p>
            <a:pPr marL="0" indent="0" algn="ctr">
              <a:buNone/>
            </a:pPr>
            <a:r>
              <a:rPr lang="en-US" sz="850" dirty="0">
                <a:solidFill>
                  <a:srgbClr val="CBD5E1"/>
                </a:solidFill>
              </a:rPr>
              <a:t>Filter-driven dashboards for business</a:t>
            </a:r>
            <a:endParaRPr lang="en-US" sz="850" dirty="0"/>
          </a:p>
        </p:txBody>
      </p:sp>
      <p:sp>
        <p:nvSpPr>
          <p:cNvPr id="26" name="Shape 24"/>
          <p:cNvSpPr/>
          <p:nvPr/>
        </p:nvSpPr>
        <p:spPr>
          <a:xfrm>
            <a:off x="6894576" y="3657600"/>
            <a:ext cx="2011680" cy="1234440"/>
          </a:xfrm>
          <a:prstGeom prst="rect">
            <a:avLst/>
          </a:prstGeom>
          <a:solidFill>
            <a:srgbClr val="FFFFFF">
              <a:alpha val="10000"/>
            </a:srgbClr>
          </a:solidFill>
          <a:ln w="12700">
            <a:solidFill>
              <a:srgbClr val="F9A825"/>
            </a:solidFill>
            <a:prstDash val="solid"/>
          </a:ln>
        </p:spPr>
      </p:sp>
      <p:sp>
        <p:nvSpPr>
          <p:cNvPr id="27" name="Text 25"/>
          <p:cNvSpPr/>
          <p:nvPr/>
        </p:nvSpPr>
        <p:spPr>
          <a:xfrm>
            <a:off x="6894576" y="3657600"/>
            <a:ext cx="2011680" cy="457200"/>
          </a:xfrm>
          <a:prstGeom prst="rect">
            <a:avLst/>
          </a:prstGeom>
          <a:noFill/>
          <a:ln/>
        </p:spPr>
        <p:txBody>
          <a:bodyPr wrap="square" rtlCol="0" anchor="ctr"/>
          <a:lstStyle/>
          <a:p>
            <a:pPr marL="0" indent="0" algn="ctr">
              <a:buNone/>
            </a:pPr>
            <a:r>
              <a:rPr lang="en-US" sz="1800" b="1" dirty="0">
                <a:solidFill>
                  <a:srgbClr val="F9A825"/>
                </a:solidFill>
              </a:rPr>
              <a:t>04</a:t>
            </a:r>
            <a:endParaRPr lang="en-US" sz="1800" dirty="0"/>
          </a:p>
        </p:txBody>
      </p:sp>
      <p:sp>
        <p:nvSpPr>
          <p:cNvPr id="28" name="Text 26"/>
          <p:cNvSpPr/>
          <p:nvPr/>
        </p:nvSpPr>
        <p:spPr>
          <a:xfrm>
            <a:off x="6967728" y="4133088"/>
            <a:ext cx="1874520" cy="320040"/>
          </a:xfrm>
          <a:prstGeom prst="rect">
            <a:avLst/>
          </a:prstGeom>
          <a:noFill/>
          <a:ln/>
        </p:spPr>
        <p:txBody>
          <a:bodyPr wrap="square" rtlCol="0" anchor="ctr"/>
          <a:lstStyle/>
          <a:p>
            <a:pPr marL="0" indent="0" algn="ctr">
              <a:buNone/>
            </a:pPr>
            <a:r>
              <a:rPr lang="en-US" sz="950" b="1" dirty="0">
                <a:solidFill>
                  <a:srgbClr val="FFFFFF"/>
                </a:solidFill>
              </a:rPr>
              <a:t>Analytical Thinking</a:t>
            </a:r>
            <a:endParaRPr lang="en-US" sz="950" dirty="0"/>
          </a:p>
        </p:txBody>
      </p:sp>
      <p:sp>
        <p:nvSpPr>
          <p:cNvPr id="29" name="Text 27"/>
          <p:cNvSpPr/>
          <p:nvPr/>
        </p:nvSpPr>
        <p:spPr>
          <a:xfrm>
            <a:off x="6967728" y="4462272"/>
            <a:ext cx="1874520" cy="347472"/>
          </a:xfrm>
          <a:prstGeom prst="rect">
            <a:avLst/>
          </a:prstGeom>
          <a:noFill/>
          <a:ln/>
        </p:spPr>
        <p:txBody>
          <a:bodyPr wrap="square" rtlCol="0" anchor="ctr"/>
          <a:lstStyle/>
          <a:p>
            <a:pPr marL="0" indent="0" algn="ctr">
              <a:buNone/>
            </a:pPr>
            <a:r>
              <a:rPr lang="en-US" sz="850" dirty="0">
                <a:solidFill>
                  <a:srgbClr val="CBD5E1"/>
                </a:solidFill>
              </a:rPr>
              <a:t>Raw data → actionable decisions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962</Words>
  <Application>Microsoft Office PowerPoint</Application>
  <PresentationFormat>On-screen Show (16:9)</PresentationFormat>
  <Paragraphs>168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Airline Data Analysis Dashboard</dc:title>
  <dc:subject>PptxGenJS Presentation</dc:subject>
  <dc:creator>PptxGenJS</dc:creator>
  <cp:lastModifiedBy>Riyas M</cp:lastModifiedBy>
  <cp:revision>2</cp:revision>
  <dcterms:created xsi:type="dcterms:W3CDTF">2026-05-05T07:46:25Z</dcterms:created>
  <dcterms:modified xsi:type="dcterms:W3CDTF">2026-05-05T08:36:02Z</dcterms:modified>
</cp:coreProperties>
</file>